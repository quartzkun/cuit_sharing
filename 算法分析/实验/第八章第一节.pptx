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4" r:id="rId3"/>
    <p:sldId id="261" r:id="rId4"/>
    <p:sldId id="260" r:id="rId5"/>
    <p:sldId id="262" r:id="rId6"/>
    <p:sldId id="272" r:id="rId7"/>
    <p:sldId id="270" r:id="rId8"/>
    <p:sldId id="263" r:id="rId9"/>
    <p:sldId id="273" r:id="rId10"/>
    <p:sldId id="287" r:id="rId11"/>
    <p:sldId id="28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74" autoAdjust="0"/>
    <p:restoredTop sz="94660"/>
  </p:normalViewPr>
  <p:slideViewPr>
    <p:cSldViewPr snapToGrid="0">
      <p:cViewPr varScale="1">
        <p:scale>
          <a:sx n="89" d="100"/>
          <a:sy n="89" d="100"/>
        </p:scale>
        <p:origin x="93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29002-8B23-41CC-8963-1AC123553F5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C76DC-1BD7-4FFC-A537-6414BCE5D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25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047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180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890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62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969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169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524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535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572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605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02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385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50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31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764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56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75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52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1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86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86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41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D1417-214A-4D8C-A3EF-1320484C7201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6B6AB-8961-46A8-B041-5CDFC6676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52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One.c" TargetMode="External"/><Relationship Id="rId4" Type="http://schemas.openxmlformats.org/officeDocument/2006/relationships/image" Target="../media/image2.png"/><Relationship Id="rId9" Type="http://schemas.openxmlformats.org/officeDocument/2006/relationships/hyperlink" Target="One.ex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Two.exe" TargetMode="External"/><Relationship Id="rId5" Type="http://schemas.openxmlformats.org/officeDocument/2006/relationships/hyperlink" Target="Two.c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Third.exe" TargetMode="External"/><Relationship Id="rId5" Type="http://schemas.openxmlformats.org/officeDocument/2006/relationships/image" Target="../media/image9.png"/><Relationship Id="rId4" Type="http://schemas.openxmlformats.org/officeDocument/2006/relationships/hyperlink" Target="Third.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72000"/>
          </a:blip>
          <a:stretch>
            <a:fillRect/>
          </a:stretch>
        </p:blipFill>
        <p:spPr>
          <a:xfrm rot="2760000" flipH="1">
            <a:off x="546100" y="-3275330"/>
            <a:ext cx="5967730" cy="7909560"/>
          </a:xfrm>
          <a:prstGeom prst="rect">
            <a:avLst/>
          </a:prstGeom>
        </p:spPr>
      </p:pic>
      <p:pic>
        <p:nvPicPr>
          <p:cNvPr id="15" name="图片 14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72000"/>
          </a:blip>
          <a:stretch>
            <a:fillRect/>
          </a:stretch>
        </p:blipFill>
        <p:spPr>
          <a:xfrm rot="18840000" flipH="1" flipV="1">
            <a:off x="-1573530" y="2793365"/>
            <a:ext cx="5967730" cy="790956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8048625" y="2012315"/>
            <a:ext cx="1899285" cy="189928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69875" tIns="136525" rIns="269875" bIns="136525" rtlCol="0" anchor="ctr" anchorCtr="1"/>
          <a:lstStyle/>
          <a:p>
            <a:pPr algn="ctr"/>
            <a:r>
              <a:rPr lang="en-US" altLang="zh-CN" sz="11500">
                <a:solidFill>
                  <a:schemeClr val="tx1"/>
                </a:solidFill>
                <a:latin typeface="方正细圆简体" panose="02010601030101010101" charset="-122"/>
                <a:ea typeface="方正细圆简体" panose="02010601030101010101" charset="-122"/>
              </a:rPr>
              <a:t>1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6351270" y="4180840"/>
            <a:ext cx="5260340" cy="1097915"/>
            <a:chOff x="4877" y="6605"/>
            <a:chExt cx="8284" cy="1729"/>
          </a:xfrm>
        </p:grpSpPr>
        <p:cxnSp>
          <p:nvCxnSpPr>
            <p:cNvPr id="18" name="直接连接符 17"/>
            <p:cNvCxnSpPr/>
            <p:nvPr/>
          </p:nvCxnSpPr>
          <p:spPr bwMode="auto">
            <a:xfrm flipH="1">
              <a:off x="8759" y="6605"/>
              <a:ext cx="5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37"/>
            <p:cNvSpPr>
              <a:spLocks noChangeArrowheads="1"/>
            </p:cNvSpPr>
            <p:nvPr/>
          </p:nvSpPr>
          <p:spPr bwMode="auto">
            <a:xfrm>
              <a:off x="4877" y="6735"/>
              <a:ext cx="8284" cy="1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6000" b="1" dirty="0">
                  <a:latin typeface="+mn-lt"/>
                  <a:cs typeface="Arial" panose="020B0604020202020204" pitchFamily="34" charset="0"/>
                </a:rPr>
                <a:t>三个基本例子</a:t>
              </a:r>
              <a:endParaRPr lang="en-US" altLang="zh-CN" sz="6000" b="1" dirty="0">
                <a:latin typeface="+mn-lt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886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865880" y="555625"/>
            <a:ext cx="4341495" cy="1017905"/>
            <a:chOff x="6088" y="875"/>
            <a:chExt cx="6837" cy="1603"/>
          </a:xfrm>
        </p:grpSpPr>
        <p:sp>
          <p:nvSpPr>
            <p:cNvPr id="10" name="文本框 9"/>
            <p:cNvSpPr txBox="1"/>
            <p:nvPr/>
          </p:nvSpPr>
          <p:spPr>
            <a:xfrm>
              <a:off x="6921" y="981"/>
              <a:ext cx="5352" cy="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spc="100" dirty="0">
                  <a:solidFill>
                    <a:schemeClr val="tx1"/>
                  </a:solidFill>
                  <a:uFillTx/>
                  <a:latin typeface="方正细圆简体" panose="02010601030101010101" charset="-122"/>
                  <a:ea typeface="方正细圆简体" panose="02010601030101010101" charset="-122"/>
                </a:rPr>
                <a:t>动态规划</a:t>
              </a:r>
              <a:endParaRPr lang="zh-CN" altLang="en-US" sz="1400" spc="400" dirty="0">
                <a:solidFill>
                  <a:schemeClr val="tx1"/>
                </a:solidFill>
                <a:uFillTx/>
                <a:latin typeface="方正细圆简体" panose="02010601030101010101" charset="-122"/>
                <a:ea typeface="方正细圆简体" panose="02010601030101010101" charset="-122"/>
              </a:endParaRPr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6922" y="875"/>
              <a:ext cx="5298" cy="887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088" y="1843"/>
              <a:ext cx="6837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ct val="120000"/>
                </a:lnSpc>
                <a:buFont typeface="Arial" panose="020B0604020202020204" pitchFamily="34" charset="0"/>
              </a:pPr>
              <a:r>
                <a:rPr lang="en-US" altLang="x-none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D</a:t>
              </a:r>
              <a:r>
                <a:rPr lang="en-US" altLang="zh-CN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ynamic programming</a:t>
              </a:r>
              <a:endParaRPr lang="en-US" altLang="x-none" dirty="0">
                <a:solidFill>
                  <a:sysClr val="window" lastClr="FFFFFF">
                    <a:lumMod val="50000"/>
                  </a:sysClr>
                </a:solidFill>
                <a:latin typeface="+mn-lt"/>
                <a:ea typeface="宋体" panose="02010600030101010101" pitchFamily="2" charset="-122"/>
                <a:cs typeface="+mn-ea"/>
                <a:sym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342390" y="1877695"/>
            <a:ext cx="5931535" cy="1710690"/>
            <a:chOff x="2362" y="1607"/>
            <a:chExt cx="9341" cy="2694"/>
          </a:xfrm>
        </p:grpSpPr>
        <p:sp>
          <p:nvSpPr>
            <p:cNvPr id="9" name="矩形 8"/>
            <p:cNvSpPr/>
            <p:nvPr/>
          </p:nvSpPr>
          <p:spPr>
            <a:xfrm>
              <a:off x="3354" y="1607"/>
              <a:ext cx="781" cy="8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7B637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任意多边形 20"/>
            <p:cNvSpPr>
              <a:spLocks noChangeAspect="1"/>
            </p:cNvSpPr>
            <p:nvPr/>
          </p:nvSpPr>
          <p:spPr>
            <a:xfrm>
              <a:off x="3484" y="1717"/>
              <a:ext cx="651" cy="567"/>
            </a:xfrm>
            <a:custGeom>
              <a:avLst/>
              <a:gdLst>
                <a:gd name="connsiteX0" fmla="*/ 2136838 w 4244134"/>
                <a:gd name="connsiteY0" fmla="*/ 2537631 h 3693319"/>
                <a:gd name="connsiteX1" fmla="*/ 2299844 w 4244134"/>
                <a:gd name="connsiteY1" fmla="*/ 2700637 h 3693319"/>
                <a:gd name="connsiteX2" fmla="*/ 2462850 w 4244134"/>
                <a:gd name="connsiteY2" fmla="*/ 2537631 h 3693319"/>
                <a:gd name="connsiteX3" fmla="*/ 616723 w 4244134"/>
                <a:gd name="connsiteY3" fmla="*/ 1748051 h 3693319"/>
                <a:gd name="connsiteX4" fmla="*/ 2488723 w 4244134"/>
                <a:gd name="connsiteY4" fmla="*/ 1748051 h 3693319"/>
                <a:gd name="connsiteX5" fmla="*/ 2488723 w 4244134"/>
                <a:gd name="connsiteY5" fmla="*/ 1884677 h 3693319"/>
                <a:gd name="connsiteX6" fmla="*/ 616723 w 4244134"/>
                <a:gd name="connsiteY6" fmla="*/ 1884677 h 3693319"/>
                <a:gd name="connsiteX7" fmla="*/ 616723 w 4244134"/>
                <a:gd name="connsiteY7" fmla="*/ 1421574 h 3693319"/>
                <a:gd name="connsiteX8" fmla="*/ 2488723 w 4244134"/>
                <a:gd name="connsiteY8" fmla="*/ 1421574 h 3693319"/>
                <a:gd name="connsiteX9" fmla="*/ 2488723 w 4244134"/>
                <a:gd name="connsiteY9" fmla="*/ 1558200 h 3693319"/>
                <a:gd name="connsiteX10" fmla="*/ 616723 w 4244134"/>
                <a:gd name="connsiteY10" fmla="*/ 1558200 h 3693319"/>
                <a:gd name="connsiteX11" fmla="*/ 616723 w 4244134"/>
                <a:gd name="connsiteY11" fmla="*/ 1095097 h 3693319"/>
                <a:gd name="connsiteX12" fmla="*/ 2488723 w 4244134"/>
                <a:gd name="connsiteY12" fmla="*/ 1095097 h 3693319"/>
                <a:gd name="connsiteX13" fmla="*/ 2488723 w 4244134"/>
                <a:gd name="connsiteY13" fmla="*/ 1231723 h 3693319"/>
                <a:gd name="connsiteX14" fmla="*/ 616723 w 4244134"/>
                <a:gd name="connsiteY14" fmla="*/ 1231723 h 3693319"/>
                <a:gd name="connsiteX15" fmla="*/ 204718 w 4244134"/>
                <a:gd name="connsiteY15" fmla="*/ 204718 h 3693319"/>
                <a:gd name="connsiteX16" fmla="*/ 204718 w 4244134"/>
                <a:gd name="connsiteY16" fmla="*/ 3488601 h 3693319"/>
                <a:gd name="connsiteX17" fmla="*/ 2907082 w 4244134"/>
                <a:gd name="connsiteY17" fmla="*/ 3488601 h 3693319"/>
                <a:gd name="connsiteX18" fmla="*/ 2907082 w 4244134"/>
                <a:gd name="connsiteY18" fmla="*/ 3096000 h 3693319"/>
                <a:gd name="connsiteX19" fmla="*/ 2907082 w 4244134"/>
                <a:gd name="connsiteY19" fmla="*/ 2973318 h 3693319"/>
                <a:gd name="connsiteX20" fmla="*/ 2907082 w 4244134"/>
                <a:gd name="connsiteY20" fmla="*/ 2619924 h 3693319"/>
                <a:gd name="connsiteX21" fmla="*/ 2302633 w 4244134"/>
                <a:gd name="connsiteY21" fmla="*/ 3224372 h 3693319"/>
                <a:gd name="connsiteX22" fmla="*/ 2288873 w 4244134"/>
                <a:gd name="connsiteY22" fmla="*/ 3210611 h 3693319"/>
                <a:gd name="connsiteX23" fmla="*/ 2286083 w 4244134"/>
                <a:gd name="connsiteY23" fmla="*/ 3213400 h 3693319"/>
                <a:gd name="connsiteX24" fmla="*/ 1610314 w 4244134"/>
                <a:gd name="connsiteY24" fmla="*/ 2537631 h 3693319"/>
                <a:gd name="connsiteX25" fmla="*/ 616723 w 4244134"/>
                <a:gd name="connsiteY25" fmla="*/ 2537631 h 3693319"/>
                <a:gd name="connsiteX26" fmla="*/ 616723 w 4244134"/>
                <a:gd name="connsiteY26" fmla="*/ 2401005 h 3693319"/>
                <a:gd name="connsiteX27" fmla="*/ 1473688 w 4244134"/>
                <a:gd name="connsiteY27" fmla="*/ 2401005 h 3693319"/>
                <a:gd name="connsiteX28" fmla="*/ 1340342 w 4244134"/>
                <a:gd name="connsiteY28" fmla="*/ 2267659 h 3693319"/>
                <a:gd name="connsiteX29" fmla="*/ 1396846 w 4244134"/>
                <a:gd name="connsiteY29" fmla="*/ 2211154 h 3693319"/>
                <a:gd name="connsiteX30" fmla="*/ 616723 w 4244134"/>
                <a:gd name="connsiteY30" fmla="*/ 2211154 h 3693319"/>
                <a:gd name="connsiteX31" fmla="*/ 616723 w 4244134"/>
                <a:gd name="connsiteY31" fmla="*/ 2074528 h 3693319"/>
                <a:gd name="connsiteX32" fmla="*/ 1533472 w 4244134"/>
                <a:gd name="connsiteY32" fmla="*/ 2074528 h 3693319"/>
                <a:gd name="connsiteX33" fmla="*/ 1603604 w 4244134"/>
                <a:gd name="connsiteY33" fmla="*/ 2004396 h 3693319"/>
                <a:gd name="connsiteX34" fmla="*/ 1673735 w 4244134"/>
                <a:gd name="connsiteY34" fmla="*/ 2074528 h 3693319"/>
                <a:gd name="connsiteX35" fmla="*/ 2488723 w 4244134"/>
                <a:gd name="connsiteY35" fmla="*/ 2074528 h 3693319"/>
                <a:gd name="connsiteX36" fmla="*/ 2488723 w 4244134"/>
                <a:gd name="connsiteY36" fmla="*/ 2211154 h 3693319"/>
                <a:gd name="connsiteX37" fmla="*/ 1810361 w 4244134"/>
                <a:gd name="connsiteY37" fmla="*/ 2211154 h 3693319"/>
                <a:gd name="connsiteX38" fmla="*/ 2000212 w 4244134"/>
                <a:gd name="connsiteY38" fmla="*/ 2401005 h 3693319"/>
                <a:gd name="connsiteX39" fmla="*/ 2488723 w 4244134"/>
                <a:gd name="connsiteY39" fmla="*/ 2401005 h 3693319"/>
                <a:gd name="connsiteX40" fmla="*/ 2488723 w 4244134"/>
                <a:gd name="connsiteY40" fmla="*/ 2511758 h 3693319"/>
                <a:gd name="connsiteX41" fmla="*/ 2907082 w 4244134"/>
                <a:gd name="connsiteY41" fmla="*/ 2093399 h 3693319"/>
                <a:gd name="connsiteX42" fmla="*/ 2907082 w 4244134"/>
                <a:gd name="connsiteY42" fmla="*/ 204718 h 3693319"/>
                <a:gd name="connsiteX43" fmla="*/ 0 w 4244134"/>
                <a:gd name="connsiteY43" fmla="*/ 0 h 3693319"/>
                <a:gd name="connsiteX44" fmla="*/ 204718 w 4244134"/>
                <a:gd name="connsiteY44" fmla="*/ 0 h 3693319"/>
                <a:gd name="connsiteX45" fmla="*/ 204718 w 4244134"/>
                <a:gd name="connsiteY45" fmla="*/ 1 h 3693319"/>
                <a:gd name="connsiteX46" fmla="*/ 2907082 w 4244134"/>
                <a:gd name="connsiteY46" fmla="*/ 1 h 3693319"/>
                <a:gd name="connsiteX47" fmla="*/ 2907082 w 4244134"/>
                <a:gd name="connsiteY47" fmla="*/ 0 h 3693319"/>
                <a:gd name="connsiteX48" fmla="*/ 3111799 w 4244134"/>
                <a:gd name="connsiteY48" fmla="*/ 0 h 3693319"/>
                <a:gd name="connsiteX49" fmla="*/ 3111799 w 4244134"/>
                <a:gd name="connsiteY49" fmla="*/ 1888682 h 3693319"/>
                <a:gd name="connsiteX50" fmla="*/ 3980872 w 4244134"/>
                <a:gd name="connsiteY50" fmla="*/ 1019609 h 3693319"/>
                <a:gd name="connsiteX51" fmla="*/ 4244134 w 4244134"/>
                <a:gd name="connsiteY51" fmla="*/ 1282871 h 3693319"/>
                <a:gd name="connsiteX52" fmla="*/ 3111799 w 4244134"/>
                <a:gd name="connsiteY52" fmla="*/ 2415207 h 3693319"/>
                <a:gd name="connsiteX53" fmla="*/ 3111799 w 4244134"/>
                <a:gd name="connsiteY53" fmla="*/ 2973318 h 3693319"/>
                <a:gd name="connsiteX54" fmla="*/ 3111799 w 4244134"/>
                <a:gd name="connsiteY54" fmla="*/ 3096000 h 3693319"/>
                <a:gd name="connsiteX55" fmla="*/ 3111799 w 4244134"/>
                <a:gd name="connsiteY55" fmla="*/ 3693319 h 3693319"/>
                <a:gd name="connsiteX56" fmla="*/ 2907082 w 4244134"/>
                <a:gd name="connsiteY56" fmla="*/ 3693319 h 3693319"/>
                <a:gd name="connsiteX57" fmla="*/ 2907082 w 4244134"/>
                <a:gd name="connsiteY57" fmla="*/ 3693318 h 3693319"/>
                <a:gd name="connsiteX58" fmla="*/ 1 w 4244134"/>
                <a:gd name="connsiteY58" fmla="*/ 3693318 h 3693319"/>
                <a:gd name="connsiteX59" fmla="*/ 1 w 4244134"/>
                <a:gd name="connsiteY59" fmla="*/ 3636000 h 3693319"/>
                <a:gd name="connsiteX60" fmla="*/ 0 w 4244134"/>
                <a:gd name="connsiteY60" fmla="*/ 3636000 h 369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44134" h="3693319">
                  <a:moveTo>
                    <a:pt x="2136838" y="2537631"/>
                  </a:moveTo>
                  <a:lnTo>
                    <a:pt x="2299844" y="2700637"/>
                  </a:lnTo>
                  <a:lnTo>
                    <a:pt x="2462850" y="2537631"/>
                  </a:lnTo>
                  <a:close/>
                  <a:moveTo>
                    <a:pt x="616723" y="1748051"/>
                  </a:moveTo>
                  <a:lnTo>
                    <a:pt x="2488723" y="1748051"/>
                  </a:lnTo>
                  <a:lnTo>
                    <a:pt x="2488723" y="1884677"/>
                  </a:lnTo>
                  <a:lnTo>
                    <a:pt x="616723" y="1884677"/>
                  </a:lnTo>
                  <a:close/>
                  <a:moveTo>
                    <a:pt x="616723" y="1421574"/>
                  </a:moveTo>
                  <a:lnTo>
                    <a:pt x="2488723" y="1421574"/>
                  </a:lnTo>
                  <a:lnTo>
                    <a:pt x="2488723" y="1558200"/>
                  </a:lnTo>
                  <a:lnTo>
                    <a:pt x="616723" y="1558200"/>
                  </a:lnTo>
                  <a:close/>
                  <a:moveTo>
                    <a:pt x="616723" y="1095097"/>
                  </a:moveTo>
                  <a:lnTo>
                    <a:pt x="2488723" y="1095097"/>
                  </a:lnTo>
                  <a:lnTo>
                    <a:pt x="2488723" y="1231723"/>
                  </a:lnTo>
                  <a:lnTo>
                    <a:pt x="616723" y="1231723"/>
                  </a:lnTo>
                  <a:close/>
                  <a:moveTo>
                    <a:pt x="204718" y="204718"/>
                  </a:moveTo>
                  <a:lnTo>
                    <a:pt x="204718" y="3488601"/>
                  </a:lnTo>
                  <a:lnTo>
                    <a:pt x="2907082" y="3488601"/>
                  </a:lnTo>
                  <a:lnTo>
                    <a:pt x="2907082" y="3096000"/>
                  </a:lnTo>
                  <a:lnTo>
                    <a:pt x="2907082" y="2973318"/>
                  </a:lnTo>
                  <a:lnTo>
                    <a:pt x="2907082" y="2619924"/>
                  </a:lnTo>
                  <a:lnTo>
                    <a:pt x="2302633" y="3224372"/>
                  </a:lnTo>
                  <a:lnTo>
                    <a:pt x="2288873" y="3210611"/>
                  </a:lnTo>
                  <a:lnTo>
                    <a:pt x="2286083" y="3213400"/>
                  </a:lnTo>
                  <a:lnTo>
                    <a:pt x="1610314" y="2537631"/>
                  </a:lnTo>
                  <a:lnTo>
                    <a:pt x="616723" y="2537631"/>
                  </a:lnTo>
                  <a:lnTo>
                    <a:pt x="616723" y="2401005"/>
                  </a:lnTo>
                  <a:lnTo>
                    <a:pt x="1473688" y="2401005"/>
                  </a:lnTo>
                  <a:lnTo>
                    <a:pt x="1340342" y="2267659"/>
                  </a:lnTo>
                  <a:lnTo>
                    <a:pt x="1396846" y="2211154"/>
                  </a:lnTo>
                  <a:lnTo>
                    <a:pt x="616723" y="2211154"/>
                  </a:lnTo>
                  <a:lnTo>
                    <a:pt x="616723" y="2074528"/>
                  </a:lnTo>
                  <a:lnTo>
                    <a:pt x="1533472" y="2074528"/>
                  </a:lnTo>
                  <a:lnTo>
                    <a:pt x="1603604" y="2004396"/>
                  </a:lnTo>
                  <a:lnTo>
                    <a:pt x="1673735" y="2074528"/>
                  </a:lnTo>
                  <a:lnTo>
                    <a:pt x="2488723" y="2074528"/>
                  </a:lnTo>
                  <a:lnTo>
                    <a:pt x="2488723" y="2211154"/>
                  </a:lnTo>
                  <a:lnTo>
                    <a:pt x="1810361" y="2211154"/>
                  </a:lnTo>
                  <a:lnTo>
                    <a:pt x="2000212" y="2401005"/>
                  </a:lnTo>
                  <a:lnTo>
                    <a:pt x="2488723" y="2401005"/>
                  </a:lnTo>
                  <a:lnTo>
                    <a:pt x="2488723" y="2511758"/>
                  </a:lnTo>
                  <a:lnTo>
                    <a:pt x="2907082" y="2093399"/>
                  </a:lnTo>
                  <a:lnTo>
                    <a:pt x="2907082" y="204718"/>
                  </a:lnTo>
                  <a:close/>
                  <a:moveTo>
                    <a:pt x="0" y="0"/>
                  </a:moveTo>
                  <a:lnTo>
                    <a:pt x="204718" y="0"/>
                  </a:lnTo>
                  <a:lnTo>
                    <a:pt x="204718" y="1"/>
                  </a:lnTo>
                  <a:lnTo>
                    <a:pt x="2907082" y="1"/>
                  </a:lnTo>
                  <a:lnTo>
                    <a:pt x="2907082" y="0"/>
                  </a:lnTo>
                  <a:lnTo>
                    <a:pt x="3111799" y="0"/>
                  </a:lnTo>
                  <a:lnTo>
                    <a:pt x="3111799" y="1888682"/>
                  </a:lnTo>
                  <a:lnTo>
                    <a:pt x="3980872" y="1019609"/>
                  </a:lnTo>
                  <a:lnTo>
                    <a:pt x="4244134" y="1282871"/>
                  </a:lnTo>
                  <a:lnTo>
                    <a:pt x="3111799" y="2415207"/>
                  </a:lnTo>
                  <a:lnTo>
                    <a:pt x="3111799" y="2973318"/>
                  </a:lnTo>
                  <a:lnTo>
                    <a:pt x="3111799" y="3096000"/>
                  </a:lnTo>
                  <a:lnTo>
                    <a:pt x="3111799" y="3693319"/>
                  </a:lnTo>
                  <a:lnTo>
                    <a:pt x="2907082" y="3693319"/>
                  </a:lnTo>
                  <a:lnTo>
                    <a:pt x="2907082" y="3693318"/>
                  </a:lnTo>
                  <a:lnTo>
                    <a:pt x="1" y="3693318"/>
                  </a:lnTo>
                  <a:lnTo>
                    <a:pt x="1" y="3636000"/>
                  </a:lnTo>
                  <a:lnTo>
                    <a:pt x="0" y="36360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0353" y="2951"/>
              <a:ext cx="1350" cy="1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7B637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2362" y="2951"/>
              <a:ext cx="1350" cy="1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7B637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28"/>
            <p:cNvSpPr>
              <a:spLocks noChangeAspect="1"/>
            </p:cNvSpPr>
            <p:nvPr/>
          </p:nvSpPr>
          <p:spPr>
            <a:xfrm>
              <a:off x="2808" y="3319"/>
              <a:ext cx="609" cy="626"/>
            </a:xfrm>
            <a:custGeom>
              <a:avLst/>
              <a:gdLst>
                <a:gd name="connsiteX0" fmla="*/ 1913593 w 4735848"/>
                <a:gd name="connsiteY0" fmla="*/ 451664 h 4873594"/>
                <a:gd name="connsiteX1" fmla="*/ 874786 w 4735848"/>
                <a:gd name="connsiteY1" fmla="*/ 881952 h 4873594"/>
                <a:gd name="connsiteX2" fmla="*/ 444498 w 4735848"/>
                <a:gd name="connsiteY2" fmla="*/ 1920759 h 4873594"/>
                <a:gd name="connsiteX3" fmla="*/ 1913592 w 4735848"/>
                <a:gd name="connsiteY3" fmla="*/ 1920759 h 4873594"/>
                <a:gd name="connsiteX4" fmla="*/ 1913593 w 4735848"/>
                <a:gd name="connsiteY4" fmla="*/ 451664 h 4873594"/>
                <a:gd name="connsiteX5" fmla="*/ 2518011 w 4735848"/>
                <a:gd name="connsiteY5" fmla="*/ 438017 h 4873594"/>
                <a:gd name="connsiteX6" fmla="*/ 4575743 w 4735848"/>
                <a:gd name="connsiteY6" fmla="*/ 1828610 h 4873594"/>
                <a:gd name="connsiteX7" fmla="*/ 4052974 w 4735848"/>
                <a:gd name="connsiteY7" fmla="*/ 4256515 h 4873594"/>
                <a:gd name="connsiteX8" fmla="*/ 1605283 w 4735848"/>
                <a:gd name="connsiteY8" fmla="*/ 4677015 h 4873594"/>
                <a:gd name="connsiteX9" fmla="*/ 302200 w 4735848"/>
                <a:gd name="connsiteY9" fmla="*/ 2562782 h 4873594"/>
                <a:gd name="connsiteX10" fmla="*/ 648266 w 4735848"/>
                <a:gd name="connsiteY10" fmla="*/ 2577306 h 4873594"/>
                <a:gd name="connsiteX11" fmla="*/ 1747834 w 4735848"/>
                <a:gd name="connsiteY11" fmla="*/ 4361339 h 4873594"/>
                <a:gd name="connsiteX12" fmla="*/ 3813244 w 4735848"/>
                <a:gd name="connsiteY12" fmla="*/ 4006513 h 4873594"/>
                <a:gd name="connsiteX13" fmla="*/ 4254367 w 4735848"/>
                <a:gd name="connsiteY13" fmla="*/ 1957798 h 4873594"/>
                <a:gd name="connsiteX14" fmla="*/ 2518012 w 4735848"/>
                <a:gd name="connsiteY14" fmla="*/ 784388 h 4873594"/>
                <a:gd name="connsiteX15" fmla="*/ 2251880 w 4735848"/>
                <a:gd name="connsiteY15" fmla="*/ 0 h 4873594"/>
                <a:gd name="connsiteX16" fmla="*/ 2251880 w 4735848"/>
                <a:gd name="connsiteY16" fmla="*/ 2251879 h 4873594"/>
                <a:gd name="connsiteX17" fmla="*/ 0 w 4735848"/>
                <a:gd name="connsiteY17" fmla="*/ 2251880 h 4873594"/>
                <a:gd name="connsiteX18" fmla="*/ 659560 w 4735848"/>
                <a:gd name="connsiteY18" fmla="*/ 659560 h 4873594"/>
                <a:gd name="connsiteX19" fmla="*/ 2251880 w 4735848"/>
                <a:gd name="connsiteY19" fmla="*/ 0 h 487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35848" h="4873594">
                  <a:moveTo>
                    <a:pt x="1913593" y="451664"/>
                  </a:moveTo>
                  <a:cubicBezTo>
                    <a:pt x="1523965" y="451664"/>
                    <a:pt x="1150295" y="606443"/>
                    <a:pt x="874786" y="881952"/>
                  </a:cubicBezTo>
                  <a:cubicBezTo>
                    <a:pt x="599277" y="1157461"/>
                    <a:pt x="444498" y="1531131"/>
                    <a:pt x="444498" y="1920759"/>
                  </a:cubicBezTo>
                  <a:lnTo>
                    <a:pt x="1913592" y="1920759"/>
                  </a:lnTo>
                  <a:cubicBezTo>
                    <a:pt x="1913592" y="1431061"/>
                    <a:pt x="1913593" y="941362"/>
                    <a:pt x="1913593" y="451664"/>
                  </a:cubicBezTo>
                  <a:close/>
                  <a:moveTo>
                    <a:pt x="2518011" y="438017"/>
                  </a:moveTo>
                  <a:cubicBezTo>
                    <a:pt x="3423484" y="438017"/>
                    <a:pt x="4238024" y="988475"/>
                    <a:pt x="4575743" y="1828610"/>
                  </a:cubicBezTo>
                  <a:cubicBezTo>
                    <a:pt x="4913461" y="2668746"/>
                    <a:pt x="4706527" y="3629817"/>
                    <a:pt x="4052974" y="4256515"/>
                  </a:cubicBezTo>
                  <a:cubicBezTo>
                    <a:pt x="3399422" y="4883213"/>
                    <a:pt x="2430518" y="5049665"/>
                    <a:pt x="1605283" y="4677015"/>
                  </a:cubicBezTo>
                  <a:cubicBezTo>
                    <a:pt x="780048" y="4304364"/>
                    <a:pt x="264230" y="3467458"/>
                    <a:pt x="302200" y="2562782"/>
                  </a:cubicBezTo>
                  <a:lnTo>
                    <a:pt x="648266" y="2577306"/>
                  </a:lnTo>
                  <a:cubicBezTo>
                    <a:pt x="616227" y="3340690"/>
                    <a:pt x="1051484" y="4046888"/>
                    <a:pt x="1747834" y="4361339"/>
                  </a:cubicBezTo>
                  <a:cubicBezTo>
                    <a:pt x="2444184" y="4675789"/>
                    <a:pt x="3261764" y="4535333"/>
                    <a:pt x="3813244" y="4006513"/>
                  </a:cubicBezTo>
                  <a:cubicBezTo>
                    <a:pt x="4364725" y="3477693"/>
                    <a:pt x="4539341" y="2666722"/>
                    <a:pt x="4254367" y="1957798"/>
                  </a:cubicBezTo>
                  <a:cubicBezTo>
                    <a:pt x="3969393" y="1248875"/>
                    <a:pt x="3282068" y="784388"/>
                    <a:pt x="2518012" y="784388"/>
                  </a:cubicBezTo>
                  <a:close/>
                  <a:moveTo>
                    <a:pt x="2251880" y="0"/>
                  </a:moveTo>
                  <a:lnTo>
                    <a:pt x="2251880" y="2251879"/>
                  </a:lnTo>
                  <a:lnTo>
                    <a:pt x="0" y="2251880"/>
                  </a:lnTo>
                  <a:cubicBezTo>
                    <a:pt x="0" y="1654644"/>
                    <a:pt x="237251" y="1081869"/>
                    <a:pt x="659560" y="659560"/>
                  </a:cubicBezTo>
                  <a:cubicBezTo>
                    <a:pt x="1081870" y="237250"/>
                    <a:pt x="1654644" y="-1"/>
                    <a:pt x="225188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任意多边形 29"/>
            <p:cNvSpPr>
              <a:spLocks noChangeAspect="1"/>
            </p:cNvSpPr>
            <p:nvPr/>
          </p:nvSpPr>
          <p:spPr>
            <a:xfrm>
              <a:off x="10824" y="3371"/>
              <a:ext cx="568" cy="567"/>
            </a:xfrm>
            <a:custGeom>
              <a:avLst/>
              <a:gdLst>
                <a:gd name="connsiteX0" fmla="*/ 816378 w 5074852"/>
                <a:gd name="connsiteY0" fmla="*/ 3584162 h 5063990"/>
                <a:gd name="connsiteX1" fmla="*/ 494757 w 5074852"/>
                <a:gd name="connsiteY1" fmla="*/ 4562500 h 5063990"/>
                <a:gd name="connsiteX2" fmla="*/ 1522998 w 5074852"/>
                <a:gd name="connsiteY2" fmla="*/ 4251342 h 5063990"/>
                <a:gd name="connsiteX3" fmla="*/ 1446260 w 5074852"/>
                <a:gd name="connsiteY3" fmla="*/ 4131002 h 5063990"/>
                <a:gd name="connsiteX4" fmla="*/ 923382 w 5074852"/>
                <a:gd name="connsiteY4" fmla="*/ 3642561 h 5063990"/>
                <a:gd name="connsiteX5" fmla="*/ 3542907 w 5074852"/>
                <a:gd name="connsiteY5" fmla="*/ 705484 h 5063990"/>
                <a:gd name="connsiteX6" fmla="*/ 985516 w 5074852"/>
                <a:gd name="connsiteY6" fmla="*/ 3262875 h 5063990"/>
                <a:gd name="connsiteX7" fmla="*/ 1113448 w 5074852"/>
                <a:gd name="connsiteY7" fmla="*/ 3332695 h 5063990"/>
                <a:gd name="connsiteX8" fmla="*/ 1742481 w 5074852"/>
                <a:gd name="connsiteY8" fmla="*/ 3920299 h 5063990"/>
                <a:gd name="connsiteX9" fmla="*/ 1832850 w 5074852"/>
                <a:gd name="connsiteY9" fmla="*/ 4062016 h 5063990"/>
                <a:gd name="connsiteX10" fmla="*/ 4417890 w 5074852"/>
                <a:gd name="connsiteY10" fmla="*/ 1476978 h 5063990"/>
                <a:gd name="connsiteX11" fmla="*/ 4415770 w 5074852"/>
                <a:gd name="connsiteY11" fmla="*/ 1472766 h 5063990"/>
                <a:gd name="connsiteX12" fmla="*/ 3636524 w 5074852"/>
                <a:gd name="connsiteY12" fmla="*/ 744840 h 5063990"/>
                <a:gd name="connsiteX13" fmla="*/ 4176835 w 5074852"/>
                <a:gd name="connsiteY13" fmla="*/ 341562 h 5063990"/>
                <a:gd name="connsiteX14" fmla="*/ 3853383 w 5074852"/>
                <a:gd name="connsiteY14" fmla="*/ 434650 h 5063990"/>
                <a:gd name="connsiteX15" fmla="*/ 3842392 w 5074852"/>
                <a:gd name="connsiteY15" fmla="*/ 443598 h 5063990"/>
                <a:gd name="connsiteX16" fmla="*/ 3985575 w 5074852"/>
                <a:gd name="connsiteY16" fmla="*/ 521743 h 5063990"/>
                <a:gd name="connsiteX17" fmla="*/ 4614609 w 5074852"/>
                <a:gd name="connsiteY17" fmla="*/ 1109348 h 5063990"/>
                <a:gd name="connsiteX18" fmla="*/ 4661937 w 5074852"/>
                <a:gd name="connsiteY18" fmla="*/ 1183566 h 5063990"/>
                <a:gd name="connsiteX19" fmla="*/ 4671494 w 5074852"/>
                <a:gd name="connsiteY19" fmla="*/ 1167546 h 5063990"/>
                <a:gd name="connsiteX20" fmla="*/ 4721960 w 5074852"/>
                <a:gd name="connsiteY20" fmla="*/ 796243 h 5063990"/>
                <a:gd name="connsiteX21" fmla="*/ 4328896 w 5074852"/>
                <a:gd name="connsiteY21" fmla="*/ 365548 h 5063990"/>
                <a:gd name="connsiteX22" fmla="*/ 4176835 w 5074852"/>
                <a:gd name="connsiteY22" fmla="*/ 341562 h 5063990"/>
                <a:gd name="connsiteX23" fmla="*/ 4183824 w 5074852"/>
                <a:gd name="connsiteY23" fmla="*/ 189 h 5063990"/>
                <a:gd name="connsiteX24" fmla="*/ 4427259 w 5074852"/>
                <a:gd name="connsiteY24" fmla="*/ 38588 h 5063990"/>
                <a:gd name="connsiteX25" fmla="*/ 5056526 w 5074852"/>
                <a:gd name="connsiteY25" fmla="*/ 728098 h 5063990"/>
                <a:gd name="connsiteX26" fmla="*/ 4913426 w 5074852"/>
                <a:gd name="connsiteY26" fmla="*/ 1426963 h 5063990"/>
                <a:gd name="connsiteX27" fmla="*/ 4897039 w 5074852"/>
                <a:gd name="connsiteY27" fmla="*/ 1447543 h 5063990"/>
                <a:gd name="connsiteX28" fmla="*/ 4901285 w 5074852"/>
                <a:gd name="connsiteY28" fmla="*/ 1451788 h 5063990"/>
                <a:gd name="connsiteX29" fmla="*/ 4863862 w 5074852"/>
                <a:gd name="connsiteY29" fmla="*/ 1489211 h 5063990"/>
                <a:gd name="connsiteX30" fmla="*/ 4837026 w 5074852"/>
                <a:gd name="connsiteY30" fmla="*/ 1522915 h 5063990"/>
                <a:gd name="connsiteX31" fmla="*/ 4747085 w 5074852"/>
                <a:gd name="connsiteY31" fmla="*/ 1608804 h 5063990"/>
                <a:gd name="connsiteX32" fmla="*/ 4745805 w 5074852"/>
                <a:gd name="connsiteY32" fmla="*/ 1607267 h 5063990"/>
                <a:gd name="connsiteX33" fmla="*/ 1881323 w 5074852"/>
                <a:gd name="connsiteY33" fmla="*/ 4471749 h 5063990"/>
                <a:gd name="connsiteX34" fmla="*/ 1884004 w 5074852"/>
                <a:gd name="connsiteY34" fmla="*/ 4480607 h 5063990"/>
                <a:gd name="connsiteX35" fmla="*/ 1867459 w 5074852"/>
                <a:gd name="connsiteY35" fmla="*/ 4485614 h 5063990"/>
                <a:gd name="connsiteX36" fmla="*/ 1850684 w 5074852"/>
                <a:gd name="connsiteY36" fmla="*/ 4502388 h 5063990"/>
                <a:gd name="connsiteX37" fmla="*/ 1841703 w 5074852"/>
                <a:gd name="connsiteY37" fmla="*/ 4493407 h 5063990"/>
                <a:gd name="connsiteX38" fmla="*/ 598435 w 5074852"/>
                <a:gd name="connsiteY38" fmla="*/ 4869636 h 5063990"/>
                <a:gd name="connsiteX39" fmla="*/ 0 w 5074852"/>
                <a:gd name="connsiteY39" fmla="*/ 5063990 h 5063990"/>
                <a:gd name="connsiteX40" fmla="*/ 95240 w 5074852"/>
                <a:gd name="connsiteY40" fmla="*/ 4745484 h 5063990"/>
                <a:gd name="connsiteX41" fmla="*/ 93708 w 5074852"/>
                <a:gd name="connsiteY41" fmla="*/ 4744980 h 5063990"/>
                <a:gd name="connsiteX42" fmla="*/ 112315 w 5074852"/>
                <a:gd name="connsiteY42" fmla="*/ 4688384 h 5063990"/>
                <a:gd name="connsiteX43" fmla="*/ 166429 w 5074852"/>
                <a:gd name="connsiteY43" fmla="*/ 4507414 h 5063990"/>
                <a:gd name="connsiteX44" fmla="*/ 170700 w 5074852"/>
                <a:gd name="connsiteY44" fmla="*/ 4510779 h 5063990"/>
                <a:gd name="connsiteX45" fmla="*/ 604148 w 5074852"/>
                <a:gd name="connsiteY45" fmla="*/ 3192281 h 5063990"/>
                <a:gd name="connsiteX46" fmla="*/ 601026 w 5074852"/>
                <a:gd name="connsiteY46" fmla="*/ 3189159 h 5063990"/>
                <a:gd name="connsiteX47" fmla="*/ 607205 w 5074852"/>
                <a:gd name="connsiteY47" fmla="*/ 3182980 h 5063990"/>
                <a:gd name="connsiteX48" fmla="*/ 610885 w 5074852"/>
                <a:gd name="connsiteY48" fmla="*/ 3171785 h 5063990"/>
                <a:gd name="connsiteX49" fmla="*/ 616540 w 5074852"/>
                <a:gd name="connsiteY49" fmla="*/ 3173645 h 5063990"/>
                <a:gd name="connsiteX50" fmla="*/ 3522874 w 5074852"/>
                <a:gd name="connsiteY50" fmla="*/ 267311 h 5063990"/>
                <a:gd name="connsiteX51" fmla="*/ 3522007 w 5074852"/>
                <a:gd name="connsiteY51" fmla="*/ 266444 h 5063990"/>
                <a:gd name="connsiteX52" fmla="*/ 3539763 w 5074852"/>
                <a:gd name="connsiteY52" fmla="*/ 250422 h 5063990"/>
                <a:gd name="connsiteX53" fmla="*/ 3548848 w 5074852"/>
                <a:gd name="connsiteY53" fmla="*/ 241337 h 5063990"/>
                <a:gd name="connsiteX54" fmla="*/ 3549314 w 5074852"/>
                <a:gd name="connsiteY54" fmla="*/ 241803 h 5063990"/>
                <a:gd name="connsiteX55" fmla="*/ 3591419 w 5074852"/>
                <a:gd name="connsiteY55" fmla="*/ 203809 h 5063990"/>
                <a:gd name="connsiteX56" fmla="*/ 4183824 w 5074852"/>
                <a:gd name="connsiteY56" fmla="*/ 189 h 506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074852" h="5063990">
                  <a:moveTo>
                    <a:pt x="816378" y="3584162"/>
                  </a:moveTo>
                  <a:lnTo>
                    <a:pt x="494757" y="4562500"/>
                  </a:lnTo>
                  <a:lnTo>
                    <a:pt x="1522998" y="4251342"/>
                  </a:lnTo>
                  <a:lnTo>
                    <a:pt x="1446260" y="4131002"/>
                  </a:lnTo>
                  <a:cubicBezTo>
                    <a:pt x="1306625" y="3934700"/>
                    <a:pt x="1128728" y="3768520"/>
                    <a:pt x="923382" y="3642561"/>
                  </a:cubicBezTo>
                  <a:close/>
                  <a:moveTo>
                    <a:pt x="3542907" y="705484"/>
                  </a:moveTo>
                  <a:lnTo>
                    <a:pt x="985516" y="3262875"/>
                  </a:lnTo>
                  <a:lnTo>
                    <a:pt x="1113448" y="3332695"/>
                  </a:lnTo>
                  <a:cubicBezTo>
                    <a:pt x="1360483" y="3484226"/>
                    <a:pt x="1574498" y="3684145"/>
                    <a:pt x="1742481" y="3920299"/>
                  </a:cubicBezTo>
                  <a:lnTo>
                    <a:pt x="1832850" y="4062016"/>
                  </a:lnTo>
                  <a:lnTo>
                    <a:pt x="4417890" y="1476978"/>
                  </a:lnTo>
                  <a:lnTo>
                    <a:pt x="4415770" y="1472766"/>
                  </a:lnTo>
                  <a:cubicBezTo>
                    <a:pt x="4236029" y="1156670"/>
                    <a:pt x="3964114" y="902663"/>
                    <a:pt x="3636524" y="744840"/>
                  </a:cubicBezTo>
                  <a:close/>
                  <a:moveTo>
                    <a:pt x="4176835" y="341562"/>
                  </a:moveTo>
                  <a:cubicBezTo>
                    <a:pt x="4062433" y="339228"/>
                    <a:pt x="3949500" y="371545"/>
                    <a:pt x="3853383" y="434650"/>
                  </a:cubicBezTo>
                  <a:lnTo>
                    <a:pt x="3842392" y="443598"/>
                  </a:lnTo>
                  <a:lnTo>
                    <a:pt x="3985575" y="521743"/>
                  </a:lnTo>
                  <a:cubicBezTo>
                    <a:pt x="4232611" y="673273"/>
                    <a:pt x="4446625" y="873192"/>
                    <a:pt x="4614609" y="1109348"/>
                  </a:cubicBezTo>
                  <a:lnTo>
                    <a:pt x="4661937" y="1183566"/>
                  </a:lnTo>
                  <a:lnTo>
                    <a:pt x="4671494" y="1167546"/>
                  </a:lnTo>
                  <a:cubicBezTo>
                    <a:pt x="4728833" y="1054946"/>
                    <a:pt x="4748054" y="924352"/>
                    <a:pt x="4721960" y="796243"/>
                  </a:cubicBezTo>
                  <a:cubicBezTo>
                    <a:pt x="4680210" y="591268"/>
                    <a:pt x="4529210" y="425811"/>
                    <a:pt x="4328896" y="365548"/>
                  </a:cubicBezTo>
                  <a:cubicBezTo>
                    <a:pt x="4278817" y="350482"/>
                    <a:pt x="4227681" y="342599"/>
                    <a:pt x="4176835" y="341562"/>
                  </a:cubicBezTo>
                  <a:close/>
                  <a:moveTo>
                    <a:pt x="4183824" y="189"/>
                  </a:moveTo>
                  <a:cubicBezTo>
                    <a:pt x="4265224" y="1850"/>
                    <a:pt x="4347087" y="14469"/>
                    <a:pt x="4427259" y="38588"/>
                  </a:cubicBezTo>
                  <a:cubicBezTo>
                    <a:pt x="4747948" y="135065"/>
                    <a:pt x="4989688" y="399949"/>
                    <a:pt x="5056526" y="728098"/>
                  </a:cubicBezTo>
                  <a:cubicBezTo>
                    <a:pt x="5106655" y="974209"/>
                    <a:pt x="5052319" y="1226049"/>
                    <a:pt x="4913426" y="1426963"/>
                  </a:cubicBezTo>
                  <a:lnTo>
                    <a:pt x="4897039" y="1447543"/>
                  </a:lnTo>
                  <a:lnTo>
                    <a:pt x="4901285" y="1451788"/>
                  </a:lnTo>
                  <a:lnTo>
                    <a:pt x="4863862" y="1489211"/>
                  </a:lnTo>
                  <a:lnTo>
                    <a:pt x="4837026" y="1522915"/>
                  </a:lnTo>
                  <a:cubicBezTo>
                    <a:pt x="4809271" y="1553308"/>
                    <a:pt x="4779260" y="1582027"/>
                    <a:pt x="4747085" y="1608804"/>
                  </a:cubicBezTo>
                  <a:lnTo>
                    <a:pt x="4745805" y="1607267"/>
                  </a:lnTo>
                  <a:lnTo>
                    <a:pt x="1881323" y="4471749"/>
                  </a:lnTo>
                  <a:lnTo>
                    <a:pt x="1884004" y="4480607"/>
                  </a:lnTo>
                  <a:lnTo>
                    <a:pt x="1867459" y="4485614"/>
                  </a:lnTo>
                  <a:lnTo>
                    <a:pt x="1850684" y="4502388"/>
                  </a:lnTo>
                  <a:lnTo>
                    <a:pt x="1841703" y="4493407"/>
                  </a:lnTo>
                  <a:lnTo>
                    <a:pt x="598435" y="4869636"/>
                  </a:lnTo>
                  <a:lnTo>
                    <a:pt x="0" y="5063990"/>
                  </a:lnTo>
                  <a:lnTo>
                    <a:pt x="95240" y="4745484"/>
                  </a:lnTo>
                  <a:lnTo>
                    <a:pt x="93708" y="4744980"/>
                  </a:lnTo>
                  <a:lnTo>
                    <a:pt x="112315" y="4688384"/>
                  </a:lnTo>
                  <a:lnTo>
                    <a:pt x="166429" y="4507414"/>
                  </a:lnTo>
                  <a:lnTo>
                    <a:pt x="170700" y="4510779"/>
                  </a:lnTo>
                  <a:lnTo>
                    <a:pt x="604148" y="3192281"/>
                  </a:lnTo>
                  <a:lnTo>
                    <a:pt x="601026" y="3189159"/>
                  </a:lnTo>
                  <a:lnTo>
                    <a:pt x="607205" y="3182980"/>
                  </a:lnTo>
                  <a:lnTo>
                    <a:pt x="610885" y="3171785"/>
                  </a:lnTo>
                  <a:lnTo>
                    <a:pt x="616540" y="3173645"/>
                  </a:lnTo>
                  <a:lnTo>
                    <a:pt x="3522874" y="267311"/>
                  </a:lnTo>
                  <a:lnTo>
                    <a:pt x="3522007" y="266444"/>
                  </a:lnTo>
                  <a:lnTo>
                    <a:pt x="3539763" y="250422"/>
                  </a:lnTo>
                  <a:lnTo>
                    <a:pt x="3548848" y="241337"/>
                  </a:lnTo>
                  <a:lnTo>
                    <a:pt x="3549314" y="241803"/>
                  </a:lnTo>
                  <a:lnTo>
                    <a:pt x="3591419" y="203809"/>
                  </a:lnTo>
                  <a:cubicBezTo>
                    <a:pt x="3759677" y="66975"/>
                    <a:pt x="3970150" y="-4171"/>
                    <a:pt x="4183824" y="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淘宝店chenying0907出品 43"/>
          <p:cNvSpPr/>
          <p:nvPr/>
        </p:nvSpPr>
        <p:spPr>
          <a:xfrm>
            <a:off x="2550795" y="2019201"/>
            <a:ext cx="71519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1600" b="0" i="0" dirty="0">
                <a:solidFill>
                  <a:srgbClr val="4D4D4D"/>
                </a:solidFill>
                <a:effectLst/>
                <a:latin typeface="-apple-system"/>
              </a:rPr>
              <a:t> 动态规划与分治方法类似，都是通过组合子问题的解来求解原问题的。</a:t>
            </a:r>
            <a:endParaRPr lang="en-US" altLang="zh-CN" sz="1600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182458" y="2902272"/>
            <a:ext cx="3199765" cy="1740535"/>
            <a:chOff x="3226" y="3371"/>
            <a:chExt cx="5039" cy="2741"/>
          </a:xfrm>
        </p:grpSpPr>
        <p:grpSp>
          <p:nvGrpSpPr>
            <p:cNvPr id="23" name="组合 22"/>
            <p:cNvGrpSpPr/>
            <p:nvPr/>
          </p:nvGrpSpPr>
          <p:grpSpPr>
            <a:xfrm>
              <a:off x="3226" y="3371"/>
              <a:ext cx="5039" cy="2741"/>
              <a:chOff x="4499" y="3001"/>
              <a:chExt cx="5039" cy="2741"/>
            </a:xfrm>
          </p:grpSpPr>
          <p:sp>
            <p:nvSpPr>
              <p:cNvPr id="24" name="淘宝店chenying0907出品 43"/>
              <p:cNvSpPr/>
              <p:nvPr/>
            </p:nvSpPr>
            <p:spPr>
              <a:xfrm>
                <a:off x="4499" y="3852"/>
                <a:ext cx="5039" cy="1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zh-CN" altLang="en-US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        分治方法将问题划分为互不相交的子问题，递归的求解子问题，再将它们的解组合起来，求出原问题的解。</a:t>
                </a:r>
                <a:endParaRPr lang="en-US" altLang="zh-CN" dirty="0">
                  <a:solidFill>
                    <a:schemeClr val="bg2">
                      <a:lumMod val="25000"/>
                      <a:alpha val="92000"/>
                    </a:schemeClr>
                  </a:solidFill>
                  <a:latin typeface="+mn-lt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5" name="淘宝店chenying0907出品 44"/>
              <p:cNvSpPr/>
              <p:nvPr/>
            </p:nvSpPr>
            <p:spPr>
              <a:xfrm>
                <a:off x="4772" y="3001"/>
                <a:ext cx="1503" cy="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1"/>
                    </a:solidFill>
                    <a:latin typeface="+mn-lt"/>
                    <a:ea typeface="微软雅黑" panose="020B0503020204020204" charset="-122"/>
                    <a:cs typeface="Arial" panose="020B0604020202020204" pitchFamily="34" charset="0"/>
                  </a:rPr>
                  <a:t>分治法</a:t>
                </a:r>
                <a:endParaRPr lang="en-US" altLang="zh-CN" sz="2000" b="1" dirty="0">
                  <a:solidFill>
                    <a:schemeClr val="tx1"/>
                  </a:solidFill>
                  <a:latin typeface="+mn-lt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6" name="直接连接符 25"/>
            <p:cNvCxnSpPr>
              <a:cxnSpLocks/>
            </p:cNvCxnSpPr>
            <p:nvPr/>
          </p:nvCxnSpPr>
          <p:spPr>
            <a:xfrm>
              <a:off x="3762" y="3998"/>
              <a:ext cx="95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rgbClr val="F392A9"/>
            </a:lnRef>
            <a:fillRef idx="0">
              <a:srgbClr val="F392A9"/>
            </a:fillRef>
            <a:effectRef idx="0">
              <a:srgbClr val="F392A9"/>
            </a:effectRef>
            <a:fontRef idx="minor">
              <a:sysClr val="windowText" lastClr="000000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7407613" y="2898772"/>
            <a:ext cx="3249930" cy="1856105"/>
            <a:chOff x="3499" y="3371"/>
            <a:chExt cx="5118" cy="2923"/>
          </a:xfrm>
        </p:grpSpPr>
        <p:grpSp>
          <p:nvGrpSpPr>
            <p:cNvPr id="28" name="组合 27"/>
            <p:cNvGrpSpPr/>
            <p:nvPr/>
          </p:nvGrpSpPr>
          <p:grpSpPr>
            <a:xfrm>
              <a:off x="3499" y="3371"/>
              <a:ext cx="5118" cy="2923"/>
              <a:chOff x="4772" y="3001"/>
              <a:chExt cx="5118" cy="2923"/>
            </a:xfrm>
          </p:grpSpPr>
          <p:sp>
            <p:nvSpPr>
              <p:cNvPr id="29" name="淘宝店chenying0907出品 43"/>
              <p:cNvSpPr/>
              <p:nvPr/>
            </p:nvSpPr>
            <p:spPr>
              <a:xfrm>
                <a:off x="4851" y="3791"/>
                <a:ext cx="5039" cy="21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zh-CN" altLang="en-US" sz="16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        动态规划与之相反，动态规划应用与子问题重叠的情况，即不同的子问题具有公共的子问题（子问题的求解是</a:t>
                </a:r>
                <a:r>
                  <a:rPr lang="zh-CN" altLang="en-US" b="1" i="0" dirty="0">
                    <a:solidFill>
                      <a:srgbClr val="4D4D4D"/>
                    </a:solidFill>
                    <a:effectLst/>
                    <a:latin typeface="-apple-system"/>
                  </a:rPr>
                  <a:t>递归</a:t>
                </a:r>
                <a:r>
                  <a:rPr lang="zh-CN" altLang="en-US" sz="16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进行的，将其划分为更小的子问题）。</a:t>
                </a:r>
                <a:endParaRPr lang="en-US" altLang="zh-CN" sz="1600" dirty="0">
                  <a:solidFill>
                    <a:schemeClr val="bg2">
                      <a:lumMod val="25000"/>
                      <a:alpha val="92000"/>
                    </a:schemeClr>
                  </a:solidFill>
                  <a:latin typeface="+mn-lt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" name="淘宝店chenying0907出品 44"/>
              <p:cNvSpPr/>
              <p:nvPr/>
            </p:nvSpPr>
            <p:spPr>
              <a:xfrm>
                <a:off x="4772" y="3001"/>
                <a:ext cx="1906" cy="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1"/>
                    </a:solidFill>
                    <a:latin typeface="+mn-lt"/>
                    <a:ea typeface="微软雅黑" panose="020B0503020204020204" charset="-122"/>
                    <a:cs typeface="Arial" panose="020B0604020202020204" pitchFamily="34" charset="0"/>
                  </a:rPr>
                  <a:t>动态规划</a:t>
                </a:r>
                <a:endParaRPr lang="en-US" altLang="zh-CN" sz="2000" b="1" dirty="0">
                  <a:solidFill>
                    <a:schemeClr val="tx1"/>
                  </a:solidFill>
                  <a:latin typeface="+mn-lt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1" name="直接连接符 30"/>
            <p:cNvCxnSpPr>
              <a:cxnSpLocks/>
            </p:cNvCxnSpPr>
            <p:nvPr/>
          </p:nvCxnSpPr>
          <p:spPr>
            <a:xfrm>
              <a:off x="3953" y="3994"/>
              <a:ext cx="99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rgbClr val="F392A9"/>
            </a:lnRef>
            <a:fillRef idx="0">
              <a:srgbClr val="F392A9"/>
            </a:fillRef>
            <a:effectRef idx="0">
              <a:srgbClr val="F392A9"/>
            </a:effectRef>
            <a:fontRef idx="minor">
              <a:sysClr val="windowText" lastClr="000000"/>
            </a:fontRef>
          </p:style>
        </p:cxn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7742CEC6-12D1-4732-9F10-52CEC2FD7FDC}"/>
              </a:ext>
            </a:extLst>
          </p:cNvPr>
          <p:cNvSpPr txBox="1"/>
          <p:nvPr/>
        </p:nvSpPr>
        <p:spPr>
          <a:xfrm>
            <a:off x="1972310" y="4957459"/>
            <a:ext cx="84896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1800" dirty="0">
                <a:solidFill>
                  <a:schemeClr val="bg2">
                    <a:lumMod val="25000"/>
                    <a:alpha val="92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       动态规划的基本思想是将待求解问题分解成若干个子问题，先求解子问题，并将这些子问题的解保存起来，如果以后在求解较大子问题的时候需要用到这些子问题的解，就可以直接取出这些已经计算过的解而免去重复运算。保存子问题的解可以使用填表方式，例如保存在数组中。</a:t>
            </a:r>
            <a:endParaRPr lang="en-US" altLang="zh-CN" sz="1800" dirty="0">
              <a:solidFill>
                <a:schemeClr val="bg2">
                  <a:lumMod val="25000"/>
                  <a:alpha val="92000"/>
                </a:schemeClr>
              </a:solidFill>
              <a:latin typeface="+mn-lt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68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632200" y="194979"/>
            <a:ext cx="4341495" cy="971550"/>
            <a:chOff x="6152" y="875"/>
            <a:chExt cx="6837" cy="1530"/>
          </a:xfrm>
        </p:grpSpPr>
        <p:sp>
          <p:nvSpPr>
            <p:cNvPr id="10" name="文本框 9"/>
            <p:cNvSpPr txBox="1"/>
            <p:nvPr/>
          </p:nvSpPr>
          <p:spPr>
            <a:xfrm>
              <a:off x="6921" y="981"/>
              <a:ext cx="5352" cy="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spc="100" dirty="0">
                  <a:solidFill>
                    <a:schemeClr val="tx1"/>
                  </a:solidFill>
                  <a:uFillTx/>
                  <a:latin typeface="方正细圆简体" panose="02010601030101010101" charset="-122"/>
                  <a:ea typeface="方正细圆简体" panose="02010601030101010101" charset="-122"/>
                </a:rPr>
                <a:t>币值最大化问题</a:t>
              </a:r>
              <a:endParaRPr lang="zh-CN" altLang="en-US" sz="1400" spc="400" dirty="0">
                <a:solidFill>
                  <a:schemeClr val="tx1"/>
                </a:solidFill>
                <a:uFillTx/>
                <a:latin typeface="方正细圆简体" panose="02010601030101010101" charset="-122"/>
                <a:ea typeface="方正细圆简体" panose="02010601030101010101" charset="-122"/>
              </a:endParaRPr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6922" y="875"/>
              <a:ext cx="5298" cy="887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152" y="1824"/>
              <a:ext cx="6837" cy="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ct val="120000"/>
                </a:lnSpc>
                <a:buFont typeface="Arial" panose="020B0604020202020204" pitchFamily="34" charset="0"/>
              </a:pPr>
              <a:r>
                <a:rPr lang="en-US" altLang="x-none" sz="1600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C</a:t>
              </a:r>
              <a:r>
                <a:rPr lang="en-US" altLang="zh-CN" sz="1600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urrency value maximization</a:t>
              </a:r>
              <a:endParaRPr lang="en-US" altLang="x-none" sz="1600" dirty="0">
                <a:solidFill>
                  <a:sysClr val="window" lastClr="FFFFFF">
                    <a:lumMod val="50000"/>
                  </a:sysClr>
                </a:solidFill>
                <a:latin typeface="+mn-lt"/>
                <a:ea typeface="宋体" panose="02010600030101010101" pitchFamily="2" charset="-122"/>
                <a:cs typeface="+mn-ea"/>
                <a:sym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86377" y="1207746"/>
            <a:ext cx="1462405" cy="1463675"/>
            <a:chOff x="2720" y="3860"/>
            <a:chExt cx="2303" cy="2305"/>
          </a:xfrm>
        </p:grpSpPr>
        <p:sp>
          <p:nvSpPr>
            <p:cNvPr id="12" name="Oval 3"/>
            <p:cNvSpPr>
              <a:spLocks noChangeAspect="1"/>
            </p:cNvSpPr>
            <p:nvPr/>
          </p:nvSpPr>
          <p:spPr>
            <a:xfrm>
              <a:off x="2720" y="3860"/>
              <a:ext cx="2303" cy="2305"/>
            </a:xfrm>
            <a:prstGeom prst="ellipse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5D91"/>
                  </a:solidFill>
                </a14:hiddenFill>
              </a:ext>
            </a:extLst>
          </p:spPr>
          <p:txBody>
            <a:bodyPr anchor="ctr"/>
            <a:lstStyle/>
            <a:p>
              <a:pPr marL="0" marR="0" lvl="0" indent="0" algn="ctr" defTabSz="12172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19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01"/>
            <p:cNvSpPr>
              <a:spLocks noEditPoints="1"/>
            </p:cNvSpPr>
            <p:nvPr/>
          </p:nvSpPr>
          <p:spPr bwMode="auto">
            <a:xfrm>
              <a:off x="3194" y="4563"/>
              <a:ext cx="1355" cy="900"/>
            </a:xfrm>
            <a:custGeom>
              <a:avLst/>
              <a:gdLst/>
              <a:ahLst/>
              <a:cxnLst>
                <a:cxn ang="0">
                  <a:pos x="77" y="43"/>
                </a:cxn>
                <a:cxn ang="0">
                  <a:pos x="77" y="47"/>
                </a:cxn>
                <a:cxn ang="0">
                  <a:pos x="70" y="51"/>
                </a:cxn>
                <a:cxn ang="0">
                  <a:pos x="6" y="51"/>
                </a:cxn>
                <a:cxn ang="0">
                  <a:pos x="0" y="47"/>
                </a:cxn>
                <a:cxn ang="0">
                  <a:pos x="0" y="43"/>
                </a:cxn>
                <a:cxn ang="0">
                  <a:pos x="6" y="43"/>
                </a:cxn>
                <a:cxn ang="0">
                  <a:pos x="70" y="43"/>
                </a:cxn>
                <a:cxn ang="0">
                  <a:pos x="77" y="43"/>
                </a:cxn>
                <a:cxn ang="0">
                  <a:pos x="10" y="34"/>
                </a:cxn>
                <a:cxn ang="0">
                  <a:pos x="10" y="6"/>
                </a:cxn>
                <a:cxn ang="0">
                  <a:pos x="16" y="0"/>
                </a:cxn>
                <a:cxn ang="0">
                  <a:pos x="60" y="0"/>
                </a:cxn>
                <a:cxn ang="0">
                  <a:pos x="67" y="6"/>
                </a:cxn>
                <a:cxn ang="0">
                  <a:pos x="67" y="34"/>
                </a:cxn>
                <a:cxn ang="0">
                  <a:pos x="60" y="41"/>
                </a:cxn>
                <a:cxn ang="0">
                  <a:pos x="16" y="41"/>
                </a:cxn>
                <a:cxn ang="0">
                  <a:pos x="10" y="34"/>
                </a:cxn>
                <a:cxn ang="0">
                  <a:pos x="15" y="34"/>
                </a:cxn>
                <a:cxn ang="0">
                  <a:pos x="16" y="36"/>
                </a:cxn>
                <a:cxn ang="0">
                  <a:pos x="60" y="36"/>
                </a:cxn>
                <a:cxn ang="0">
                  <a:pos x="61" y="34"/>
                </a:cxn>
                <a:cxn ang="0">
                  <a:pos x="61" y="6"/>
                </a:cxn>
                <a:cxn ang="0">
                  <a:pos x="60" y="5"/>
                </a:cxn>
                <a:cxn ang="0">
                  <a:pos x="16" y="5"/>
                </a:cxn>
                <a:cxn ang="0">
                  <a:pos x="15" y="6"/>
                </a:cxn>
                <a:cxn ang="0">
                  <a:pos x="15" y="34"/>
                </a:cxn>
                <a:cxn ang="0">
                  <a:pos x="42" y="47"/>
                </a:cxn>
                <a:cxn ang="0">
                  <a:pos x="42" y="46"/>
                </a:cxn>
                <a:cxn ang="0">
                  <a:pos x="35" y="46"/>
                </a:cxn>
                <a:cxn ang="0">
                  <a:pos x="34" y="47"/>
                </a:cxn>
                <a:cxn ang="0">
                  <a:pos x="35" y="47"/>
                </a:cxn>
                <a:cxn ang="0">
                  <a:pos x="42" y="47"/>
                </a:cxn>
                <a:cxn ang="0">
                  <a:pos x="42" y="47"/>
                </a:cxn>
              </a:cxnLst>
              <a:rect l="0" t="0" r="r" b="b"/>
              <a:pathLst>
                <a:path w="77" h="51">
                  <a:moveTo>
                    <a:pt x="77" y="43"/>
                  </a:moveTo>
                  <a:cubicBezTo>
                    <a:pt x="77" y="47"/>
                    <a:pt x="77" y="47"/>
                    <a:pt x="77" y="47"/>
                  </a:cubicBezTo>
                  <a:cubicBezTo>
                    <a:pt x="77" y="49"/>
                    <a:pt x="74" y="51"/>
                    <a:pt x="70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9"/>
                    <a:pt x="0" y="4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70" y="43"/>
                    <a:pt x="70" y="43"/>
                    <a:pt x="70" y="43"/>
                  </a:cubicBezTo>
                  <a:lnTo>
                    <a:pt x="77" y="43"/>
                  </a:lnTo>
                  <a:close/>
                  <a:moveTo>
                    <a:pt x="10" y="34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2"/>
                    <a:pt x="13" y="0"/>
                    <a:pt x="1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7" y="2"/>
                    <a:pt x="67" y="6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7" y="38"/>
                    <a:pt x="64" y="41"/>
                    <a:pt x="60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3" y="41"/>
                    <a:pt x="10" y="38"/>
                    <a:pt x="10" y="34"/>
                  </a:cubicBezTo>
                  <a:close/>
                  <a:moveTo>
                    <a:pt x="15" y="34"/>
                  </a:moveTo>
                  <a:cubicBezTo>
                    <a:pt x="15" y="35"/>
                    <a:pt x="16" y="36"/>
                    <a:pt x="16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1" y="36"/>
                    <a:pt x="61" y="35"/>
                    <a:pt x="61" y="3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5"/>
                    <a:pt x="61" y="5"/>
                    <a:pt x="60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5" y="5"/>
                    <a:pt x="15" y="6"/>
                  </a:cubicBezTo>
                  <a:lnTo>
                    <a:pt x="15" y="34"/>
                  </a:lnTo>
                  <a:close/>
                  <a:moveTo>
                    <a:pt x="42" y="47"/>
                  </a:moveTo>
                  <a:cubicBezTo>
                    <a:pt x="42" y="46"/>
                    <a:pt x="42" y="46"/>
                    <a:pt x="42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4" y="46"/>
                    <a:pt x="34" y="47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</a:ln>
          </p:spPr>
          <p:txBody>
            <a:bodyPr lIns="121682" tIns="60841" rIns="121682" bIns="60841"/>
            <a:lstStyle/>
            <a:p>
              <a:pPr marL="0" marR="0" lvl="0" indent="0" algn="l" defTabSz="12172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19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66712" y="1625063"/>
            <a:ext cx="11402784" cy="1736517"/>
            <a:chOff x="-1229" y="-2688"/>
            <a:chExt cx="4019" cy="13123"/>
          </a:xfrm>
        </p:grpSpPr>
        <p:grpSp>
          <p:nvGrpSpPr>
            <p:cNvPr id="25" name="组合 24"/>
            <p:cNvGrpSpPr/>
            <p:nvPr/>
          </p:nvGrpSpPr>
          <p:grpSpPr>
            <a:xfrm>
              <a:off x="-1229" y="-2688"/>
              <a:ext cx="4019" cy="13123"/>
              <a:chOff x="-537" y="-2435"/>
              <a:chExt cx="4019" cy="13123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295" y="-2435"/>
                <a:ext cx="3187" cy="125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3200" b="0" i="0" dirty="0">
                    <a:effectLst/>
                    <a:latin typeface="-apple-system"/>
                  </a:rPr>
                  <a:t>        </a:t>
                </a:r>
                <a:r>
                  <a:rPr lang="zh-CN" altLang="en-US" sz="2800" b="0" i="0" dirty="0">
                    <a:effectLst/>
                    <a:latin typeface="-apple-system"/>
                  </a:rPr>
                  <a:t>给定一排</a:t>
                </a:r>
                <a:r>
                  <a:rPr lang="en-US" altLang="zh-CN" sz="2800" b="0" i="0" dirty="0">
                    <a:effectLst/>
                    <a:latin typeface="-apple-system"/>
                  </a:rPr>
                  <a:t>n</a:t>
                </a:r>
                <a:r>
                  <a:rPr lang="zh-CN" altLang="en-US" sz="2800" b="0" i="0" dirty="0">
                    <a:effectLst/>
                    <a:latin typeface="-apple-system"/>
                  </a:rPr>
                  <a:t>个硬币，其面值均为整数</a:t>
                </a:r>
                <a:r>
                  <a:rPr lang="en-US" altLang="zh-CN" sz="2800" b="0" i="0" dirty="0">
                    <a:effectLst/>
                    <a:latin typeface="-apple-system"/>
                  </a:rPr>
                  <a:t>c1, c2, …, cn, </a:t>
                </a:r>
                <a:r>
                  <a:rPr lang="zh-CN" altLang="en-US" sz="2800" b="0" i="0" dirty="0">
                    <a:effectLst/>
                    <a:latin typeface="-apple-system"/>
                  </a:rPr>
                  <a:t>这些整数并不一定两两不同。问如何选择硬币，使得在其</a:t>
                </a:r>
                <a:r>
                  <a:rPr lang="zh-CN" altLang="en-US" sz="2800" b="1" i="0" dirty="0">
                    <a:effectLst/>
                    <a:latin typeface="-apple-system"/>
                  </a:rPr>
                  <a:t>原始位置</a:t>
                </a:r>
                <a:r>
                  <a:rPr lang="zh-CN" altLang="en-US" sz="3200" b="1" i="0" dirty="0">
                    <a:effectLst/>
                    <a:latin typeface="-apple-system"/>
                  </a:rPr>
                  <a:t>互不相邻</a:t>
                </a:r>
                <a:r>
                  <a:rPr lang="zh-CN" altLang="en-US" sz="2800" b="0" i="0" dirty="0">
                    <a:effectLst/>
                    <a:latin typeface="-apple-system"/>
                  </a:rPr>
                  <a:t>的条件下，所选硬币的总金额最大。</a:t>
                </a:r>
              </a:p>
              <a:p>
                <a:pPr algn="ctr">
                  <a:spcAft>
                    <a:spcPts val="600"/>
                  </a:spcAft>
                </a:pPr>
                <a:endParaRPr lang="en-US" altLang="zh-CN" sz="1000" dirty="0">
                  <a:solidFill>
                    <a:schemeClr val="bg2">
                      <a:lumMod val="25000"/>
                      <a:alpha val="92000"/>
                    </a:schemeClr>
                  </a:solidFill>
                  <a:latin typeface="+mn-lt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-537" y="5804"/>
                <a:ext cx="832" cy="4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600" b="1" dirty="0">
                    <a:solidFill>
                      <a:schemeClr val="tx1">
                        <a:alpha val="92000"/>
                      </a:schemeClr>
                    </a:solidFill>
                    <a:latin typeface="+mn-lt"/>
                    <a:ea typeface="微软雅黑" panose="020B0503020204020204" charset="-122"/>
                    <a:cs typeface="Arial" panose="020B0604020202020204" pitchFamily="34" charset="0"/>
                  </a:rPr>
                  <a:t>问题描述</a:t>
                </a:r>
                <a:r>
                  <a:rPr lang="en-US" altLang="zh-CN" sz="1400" b="1" dirty="0">
                    <a:solidFill>
                      <a:schemeClr val="tx1">
                        <a:alpha val="92000"/>
                      </a:schemeClr>
                    </a:solidFill>
                    <a:latin typeface="+mn-lt"/>
                    <a:ea typeface="微软雅黑" panose="020B0503020204020204" charset="-122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cxnSp>
          <p:nvCxnSpPr>
            <p:cNvPr id="26" name="直接连接符 25"/>
            <p:cNvCxnSpPr/>
            <p:nvPr/>
          </p:nvCxnSpPr>
          <p:spPr>
            <a:xfrm>
              <a:off x="-1125" y="10435"/>
              <a:ext cx="5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26">
            <a:extLst>
              <a:ext uri="{FF2B5EF4-FFF2-40B4-BE49-F238E27FC236}">
                <a16:creationId xmlns:a16="http://schemas.microsoft.com/office/drawing/2014/main" id="{519343B2-90CB-479E-80C4-F32FD1E9372A}"/>
              </a:ext>
            </a:extLst>
          </p:cNvPr>
          <p:cNvSpPr>
            <a:spLocks noChangeAspect="1"/>
          </p:cNvSpPr>
          <p:nvPr/>
        </p:nvSpPr>
        <p:spPr>
          <a:xfrm>
            <a:off x="700622" y="3644422"/>
            <a:ext cx="1462088" cy="1463675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15D91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Freeform 217">
            <a:extLst>
              <a:ext uri="{FF2B5EF4-FFF2-40B4-BE49-F238E27FC236}">
                <a16:creationId xmlns:a16="http://schemas.microsoft.com/office/drawing/2014/main" id="{D7791B30-719E-432A-8322-E847BE694DF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78837" y="4104796"/>
            <a:ext cx="722313" cy="542925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</a:ln>
        </p:spPr>
        <p:txBody>
          <a:bodyPr lIns="121682" tIns="60841" rIns="121682" bIns="6084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8F0E9F-9DEE-4230-8FE9-17DB477AE68A}"/>
              </a:ext>
            </a:extLst>
          </p:cNvPr>
          <p:cNvGrpSpPr/>
          <p:nvPr/>
        </p:nvGrpSpPr>
        <p:grpSpPr>
          <a:xfrm>
            <a:off x="426580" y="3800642"/>
            <a:ext cx="11371085" cy="2475006"/>
            <a:chOff x="-1332" y="-5357"/>
            <a:chExt cx="4126" cy="3711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29315E7-81E5-4D07-9745-C0A508686F7D}"/>
                </a:ext>
              </a:extLst>
            </p:cNvPr>
            <p:cNvGrpSpPr/>
            <p:nvPr/>
          </p:nvGrpSpPr>
          <p:grpSpPr>
            <a:xfrm>
              <a:off x="-1332" y="-5357"/>
              <a:ext cx="4126" cy="37110"/>
              <a:chOff x="-640" y="-5104"/>
              <a:chExt cx="4126" cy="37110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6CD212D-9DB7-4098-A52C-D07945C54BE7}"/>
                  </a:ext>
                </a:extLst>
              </p:cNvPr>
              <p:cNvSpPr/>
              <p:nvPr/>
            </p:nvSpPr>
            <p:spPr>
              <a:xfrm>
                <a:off x="197" y="-5104"/>
                <a:ext cx="3289" cy="37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32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        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最大可选金额用</a:t>
                </a:r>
                <a:r>
                  <a:rPr lang="en-US" altLang="zh-CN" sz="2800" dirty="0">
                    <a:solidFill>
                      <a:srgbClr val="4D4D4D"/>
                    </a:solidFill>
                    <a:latin typeface="-apple-system"/>
                  </a:rPr>
                  <a:t>F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(n)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表示，我们可以将所有可行的选择划分为两组：第一组中，可选包含最后一枚硬币的，最大金额为</a:t>
                </a:r>
                <a:r>
                  <a:rPr lang="en-US" altLang="zh-CN" sz="2800" b="0" i="0" dirty="0" err="1">
                    <a:solidFill>
                      <a:srgbClr val="4D4D4D"/>
                    </a:solidFill>
                    <a:effectLst/>
                    <a:latin typeface="-apple-system"/>
                  </a:rPr>
                  <a:t>Cn+F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(n-2)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，即最后一枚硬币加上前面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n-2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枚硬币可选的最大金额。按照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F(n)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的定义，另一组中可选的最大金额为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F(n-1)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，即前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n-1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枚硬币的最大金额。</a:t>
                </a:r>
              </a:p>
              <a:p>
                <a:br>
                  <a:rPr lang="zh-CN" altLang="en-US" sz="3200" dirty="0"/>
                </a:br>
                <a:endParaRPr lang="en-US" altLang="zh-CN" sz="1000" dirty="0">
                  <a:solidFill>
                    <a:schemeClr val="bg2">
                      <a:lumMod val="25000"/>
                      <a:alpha val="92000"/>
                    </a:schemeClr>
                  </a:solidFill>
                  <a:latin typeface="+mn-lt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02BFD8C-6F92-4154-B1FF-052C731047E3}"/>
                  </a:ext>
                </a:extLst>
              </p:cNvPr>
              <p:cNvSpPr/>
              <p:nvPr/>
            </p:nvSpPr>
            <p:spPr>
              <a:xfrm>
                <a:off x="-640" y="14279"/>
                <a:ext cx="756" cy="81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600" b="1" dirty="0">
                    <a:solidFill>
                      <a:schemeClr val="tx1">
                        <a:alpha val="92000"/>
                      </a:schemeClr>
                    </a:solidFill>
                    <a:latin typeface="+mn-lt"/>
                    <a:ea typeface="微软雅黑" panose="020B0503020204020204" charset="-122"/>
                    <a:cs typeface="Arial" panose="020B0604020202020204" pitchFamily="34" charset="0"/>
                  </a:rPr>
                  <a:t>解题思路</a:t>
                </a:r>
                <a:r>
                  <a:rPr lang="en-US" altLang="zh-CN" sz="1400" b="1" dirty="0">
                    <a:solidFill>
                      <a:schemeClr val="tx1">
                        <a:alpha val="92000"/>
                      </a:schemeClr>
                    </a:solidFill>
                    <a:latin typeface="+mn-lt"/>
                    <a:ea typeface="微软雅黑" panose="020B0503020204020204" charset="-122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5DC0EB8-7DB2-4849-A54B-4495E0B1D85B}"/>
                </a:ext>
              </a:extLst>
            </p:cNvPr>
            <p:cNvCxnSpPr/>
            <p:nvPr/>
          </p:nvCxnSpPr>
          <p:spPr>
            <a:xfrm>
              <a:off x="-1259" y="23567"/>
              <a:ext cx="5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952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906520" y="555625"/>
            <a:ext cx="4341495" cy="971550"/>
            <a:chOff x="6152" y="875"/>
            <a:chExt cx="6837" cy="1530"/>
          </a:xfrm>
        </p:grpSpPr>
        <p:sp>
          <p:nvSpPr>
            <p:cNvPr id="10" name="文本框 9"/>
            <p:cNvSpPr txBox="1"/>
            <p:nvPr/>
          </p:nvSpPr>
          <p:spPr>
            <a:xfrm>
              <a:off x="6921" y="981"/>
              <a:ext cx="5352" cy="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spc="100" dirty="0">
                  <a:solidFill>
                    <a:schemeClr val="tx1"/>
                  </a:solidFill>
                  <a:uFillTx/>
                  <a:latin typeface="方正细圆简体" panose="02010601030101010101" charset="-122"/>
                  <a:ea typeface="方正细圆简体" panose="02010601030101010101" charset="-122"/>
                </a:rPr>
                <a:t>币值最大化问题</a:t>
              </a:r>
              <a:endParaRPr lang="zh-CN" altLang="en-US" sz="1400" spc="400" dirty="0">
                <a:solidFill>
                  <a:schemeClr val="tx1"/>
                </a:solidFill>
                <a:uFillTx/>
                <a:latin typeface="方正细圆简体" panose="02010601030101010101" charset="-122"/>
                <a:ea typeface="方正细圆简体" panose="02010601030101010101" charset="-122"/>
              </a:endParaRPr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6922" y="875"/>
              <a:ext cx="5298" cy="887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152" y="1824"/>
              <a:ext cx="6837" cy="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ct val="120000"/>
                </a:lnSpc>
                <a:buFont typeface="Arial" panose="020B0604020202020204" pitchFamily="34" charset="0"/>
              </a:pPr>
              <a:r>
                <a:rPr lang="en-US" altLang="x-none" sz="1600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C</a:t>
              </a:r>
              <a:r>
                <a:rPr lang="en-US" altLang="zh-CN" sz="1600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urrency value maximization</a:t>
              </a:r>
              <a:endParaRPr lang="en-US" altLang="x-none" sz="1600" dirty="0">
                <a:solidFill>
                  <a:sysClr val="window" lastClr="FFFFFF">
                    <a:lumMod val="50000"/>
                  </a:sysClr>
                </a:solidFill>
                <a:latin typeface="+mn-lt"/>
                <a:ea typeface="宋体" panose="02010600030101010101" pitchFamily="2" charset="-122"/>
                <a:cs typeface="+mn-ea"/>
                <a:sym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19069" y="2568281"/>
            <a:ext cx="3264517" cy="1941830"/>
            <a:chOff x="2065" y="2962"/>
            <a:chExt cx="4821" cy="3058"/>
          </a:xfrm>
        </p:grpSpPr>
        <p:sp>
          <p:nvSpPr>
            <p:cNvPr id="7" name="Freeform 10"/>
            <p:cNvSpPr/>
            <p:nvPr/>
          </p:nvSpPr>
          <p:spPr>
            <a:xfrm>
              <a:off x="2065" y="2962"/>
              <a:ext cx="2488" cy="3058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729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19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14" name="Group 28"/>
            <p:cNvGrpSpPr/>
            <p:nvPr/>
          </p:nvGrpSpPr>
          <p:grpSpPr>
            <a:xfrm>
              <a:off x="2740" y="3935"/>
              <a:ext cx="4146" cy="1359"/>
              <a:chOff x="2819155" y="3241408"/>
              <a:chExt cx="1430583" cy="468580"/>
            </a:xfrm>
            <a:solidFill>
              <a:sysClr val="window" lastClr="FFFFFF"/>
            </a:solidFill>
          </p:grpSpPr>
          <p:sp>
            <p:nvSpPr>
              <p:cNvPr id="15" name="Freeform 105@|5FFC:0|FBC:0|LFC:16777215|LBC:16777215"/>
              <p:cNvSpPr>
                <a:spLocks noEditPoints="1"/>
              </p:cNvSpPr>
              <p:nvPr/>
            </p:nvSpPr>
            <p:spPr bwMode="auto">
              <a:xfrm>
                <a:off x="2819155" y="3241408"/>
                <a:ext cx="358863" cy="360363"/>
              </a:xfrm>
              <a:custGeom>
                <a:avLst/>
                <a:gdLst/>
                <a:ahLst/>
                <a:cxnLst>
                  <a:cxn ang="0">
                    <a:pos x="77" y="0"/>
                  </a:cxn>
                  <a:cxn ang="0">
                    <a:pos x="31" y="46"/>
                  </a:cxn>
                  <a:cxn ang="0">
                    <a:pos x="36" y="68"/>
                  </a:cxn>
                  <a:cxn ang="0">
                    <a:pos x="4" y="100"/>
                  </a:cxn>
                  <a:cxn ang="0">
                    <a:pos x="4" y="100"/>
                  </a:cxn>
                  <a:cxn ang="0">
                    <a:pos x="0" y="109"/>
                  </a:cxn>
                  <a:cxn ang="0">
                    <a:pos x="13" y="123"/>
                  </a:cxn>
                  <a:cxn ang="0">
                    <a:pos x="23" y="119"/>
                  </a:cxn>
                  <a:cxn ang="0">
                    <a:pos x="23" y="119"/>
                  </a:cxn>
                  <a:cxn ang="0">
                    <a:pos x="55" y="87"/>
                  </a:cxn>
                  <a:cxn ang="0">
                    <a:pos x="77" y="92"/>
                  </a:cxn>
                  <a:cxn ang="0">
                    <a:pos x="123" y="46"/>
                  </a:cxn>
                  <a:cxn ang="0">
                    <a:pos x="77" y="0"/>
                  </a:cxn>
                  <a:cxn ang="0">
                    <a:pos x="18" y="114"/>
                  </a:cxn>
                  <a:cxn ang="0">
                    <a:pos x="13" y="116"/>
                  </a:cxn>
                  <a:cxn ang="0">
                    <a:pos x="7" y="109"/>
                  </a:cxn>
                  <a:cxn ang="0">
                    <a:pos x="9" y="104"/>
                  </a:cxn>
                  <a:cxn ang="0">
                    <a:pos x="9" y="104"/>
                  </a:cxn>
                  <a:cxn ang="0">
                    <a:pos x="40" y="73"/>
                  </a:cxn>
                  <a:cxn ang="0">
                    <a:pos x="49" y="83"/>
                  </a:cxn>
                  <a:cxn ang="0">
                    <a:pos x="18" y="114"/>
                  </a:cxn>
                  <a:cxn ang="0">
                    <a:pos x="77" y="84"/>
                  </a:cxn>
                  <a:cxn ang="0">
                    <a:pos x="38" y="46"/>
                  </a:cxn>
                  <a:cxn ang="0">
                    <a:pos x="77" y="8"/>
                  </a:cxn>
                  <a:cxn ang="0">
                    <a:pos x="115" y="46"/>
                  </a:cxn>
                  <a:cxn ang="0">
                    <a:pos x="77" y="84"/>
                  </a:cxn>
                  <a:cxn ang="0">
                    <a:pos x="77" y="84"/>
                  </a:cxn>
                  <a:cxn ang="0">
                    <a:pos x="77" y="84"/>
                  </a:cxn>
                </a:cxnLst>
                <a:rect l="0" t="0" r="r" b="b"/>
                <a:pathLst>
                  <a:path w="123" h="123">
                    <a:moveTo>
                      <a:pt x="77" y="0"/>
                    </a:moveTo>
                    <a:cubicBezTo>
                      <a:pt x="51" y="0"/>
                      <a:pt x="31" y="21"/>
                      <a:pt x="31" y="46"/>
                    </a:cubicBezTo>
                    <a:cubicBezTo>
                      <a:pt x="31" y="54"/>
                      <a:pt x="33" y="61"/>
                      <a:pt x="36" y="68"/>
                    </a:cubicBezTo>
                    <a:cubicBezTo>
                      <a:pt x="4" y="100"/>
                      <a:pt x="4" y="100"/>
                      <a:pt x="4" y="100"/>
                    </a:cubicBezTo>
                    <a:cubicBezTo>
                      <a:pt x="4" y="100"/>
                      <a:pt x="4" y="100"/>
                      <a:pt x="4" y="100"/>
                    </a:cubicBezTo>
                    <a:cubicBezTo>
                      <a:pt x="2" y="102"/>
                      <a:pt x="0" y="105"/>
                      <a:pt x="0" y="109"/>
                    </a:cubicBezTo>
                    <a:cubicBezTo>
                      <a:pt x="0" y="117"/>
                      <a:pt x="6" y="123"/>
                      <a:pt x="13" y="123"/>
                    </a:cubicBezTo>
                    <a:cubicBezTo>
                      <a:pt x="17" y="123"/>
                      <a:pt x="21" y="121"/>
                      <a:pt x="23" y="119"/>
                    </a:cubicBezTo>
                    <a:cubicBezTo>
                      <a:pt x="23" y="119"/>
                      <a:pt x="23" y="119"/>
                      <a:pt x="23" y="119"/>
                    </a:cubicBezTo>
                    <a:cubicBezTo>
                      <a:pt x="55" y="87"/>
                      <a:pt x="55" y="87"/>
                      <a:pt x="55" y="87"/>
                    </a:cubicBezTo>
                    <a:cubicBezTo>
                      <a:pt x="62" y="90"/>
                      <a:pt x="69" y="92"/>
                      <a:pt x="77" y="92"/>
                    </a:cubicBezTo>
                    <a:cubicBezTo>
                      <a:pt x="102" y="92"/>
                      <a:pt x="123" y="71"/>
                      <a:pt x="123" y="46"/>
                    </a:cubicBezTo>
                    <a:cubicBezTo>
                      <a:pt x="123" y="21"/>
                      <a:pt x="102" y="0"/>
                      <a:pt x="77" y="0"/>
                    </a:cubicBezTo>
                    <a:close/>
                    <a:moveTo>
                      <a:pt x="18" y="114"/>
                    </a:moveTo>
                    <a:cubicBezTo>
                      <a:pt x="17" y="115"/>
                      <a:pt x="15" y="116"/>
                      <a:pt x="13" y="116"/>
                    </a:cubicBezTo>
                    <a:cubicBezTo>
                      <a:pt x="10" y="116"/>
                      <a:pt x="7" y="113"/>
                      <a:pt x="7" y="109"/>
                    </a:cubicBezTo>
                    <a:cubicBezTo>
                      <a:pt x="7" y="107"/>
                      <a:pt x="8" y="106"/>
                      <a:pt x="9" y="104"/>
                    </a:cubicBezTo>
                    <a:cubicBezTo>
                      <a:pt x="9" y="104"/>
                      <a:pt x="9" y="104"/>
                      <a:pt x="9" y="104"/>
                    </a:cubicBezTo>
                    <a:cubicBezTo>
                      <a:pt x="40" y="73"/>
                      <a:pt x="40" y="73"/>
                      <a:pt x="40" y="73"/>
                    </a:cubicBezTo>
                    <a:cubicBezTo>
                      <a:pt x="42" y="77"/>
                      <a:pt x="46" y="80"/>
                      <a:pt x="49" y="83"/>
                    </a:cubicBezTo>
                    <a:lnTo>
                      <a:pt x="18" y="114"/>
                    </a:lnTo>
                    <a:close/>
                    <a:moveTo>
                      <a:pt x="77" y="84"/>
                    </a:moveTo>
                    <a:cubicBezTo>
                      <a:pt x="55" y="84"/>
                      <a:pt x="38" y="67"/>
                      <a:pt x="38" y="46"/>
                    </a:cubicBezTo>
                    <a:cubicBezTo>
                      <a:pt x="38" y="25"/>
                      <a:pt x="55" y="8"/>
                      <a:pt x="77" y="8"/>
                    </a:cubicBezTo>
                    <a:cubicBezTo>
                      <a:pt x="98" y="8"/>
                      <a:pt x="115" y="25"/>
                      <a:pt x="115" y="46"/>
                    </a:cubicBezTo>
                    <a:cubicBezTo>
                      <a:pt x="115" y="67"/>
                      <a:pt x="98" y="84"/>
                      <a:pt x="77" y="84"/>
                    </a:cubicBezTo>
                    <a:close/>
                    <a:moveTo>
                      <a:pt x="77" y="84"/>
                    </a:moveTo>
                    <a:cubicBezTo>
                      <a:pt x="77" y="84"/>
                      <a:pt x="77" y="84"/>
                      <a:pt x="77" y="84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682" tIns="60841" rIns="121682" bIns="60841" numCol="1" anchor="t" anchorCtr="0" compatLnSpc="1"/>
              <a:lstStyle/>
              <a:p>
                <a:pPr marL="0" marR="0" lvl="0" indent="0" defTabSz="121729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319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106@|5FFC:0|FBC:0|LFC:16777215|LBC:16777215"/>
              <p:cNvSpPr>
                <a:spLocks noEditPoints="1"/>
              </p:cNvSpPr>
              <p:nvPr/>
            </p:nvSpPr>
            <p:spPr bwMode="auto">
              <a:xfrm>
                <a:off x="4165600" y="3624263"/>
                <a:ext cx="84138" cy="85725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0" y="27"/>
                  </a:cxn>
                  <a:cxn ang="0">
                    <a:pos x="2" y="29"/>
                  </a:cxn>
                  <a:cxn ang="0">
                    <a:pos x="4" y="27"/>
                  </a:cxn>
                  <a:cxn ang="0">
                    <a:pos x="27" y="4"/>
                  </a:cxn>
                  <a:cxn ang="0">
                    <a:pos x="29" y="2"/>
                  </a:cxn>
                  <a:cxn ang="0">
                    <a:pos x="27" y="0"/>
                  </a:cxn>
                  <a:cxn ang="0">
                    <a:pos x="27" y="0"/>
                  </a:cxn>
                  <a:cxn ang="0">
                    <a:pos x="27" y="0"/>
                  </a:cxn>
                </a:cxnLst>
                <a:rect l="0" t="0" r="r" b="b"/>
                <a:pathLst>
                  <a:path w="29" h="29">
                    <a:moveTo>
                      <a:pt x="27" y="0"/>
                    </a:moveTo>
                    <a:cubicBezTo>
                      <a:pt x="12" y="0"/>
                      <a:pt x="0" y="12"/>
                      <a:pt x="0" y="27"/>
                    </a:cubicBezTo>
                    <a:cubicBezTo>
                      <a:pt x="0" y="28"/>
                      <a:pt x="1" y="29"/>
                      <a:pt x="2" y="29"/>
                    </a:cubicBezTo>
                    <a:cubicBezTo>
                      <a:pt x="3" y="29"/>
                      <a:pt x="4" y="28"/>
                      <a:pt x="4" y="27"/>
                    </a:cubicBezTo>
                    <a:cubicBezTo>
                      <a:pt x="4" y="14"/>
                      <a:pt x="14" y="4"/>
                      <a:pt x="27" y="4"/>
                    </a:cubicBezTo>
                    <a:cubicBezTo>
                      <a:pt x="28" y="4"/>
                      <a:pt x="29" y="3"/>
                      <a:pt x="29" y="2"/>
                    </a:cubicBezTo>
                    <a:cubicBezTo>
                      <a:pt x="29" y="1"/>
                      <a:pt x="28" y="0"/>
                      <a:pt x="27" y="0"/>
                    </a:cubicBezTo>
                    <a:close/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682" tIns="60841" rIns="121682" bIns="60841" numCol="1" anchor="t" anchorCtr="0" compatLnSpc="1"/>
              <a:lstStyle/>
              <a:p>
                <a:pPr marL="0" marR="0" lvl="0" indent="0" defTabSz="121729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319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8" name="矩形 27"/>
          <p:cNvSpPr/>
          <p:nvPr/>
        </p:nvSpPr>
        <p:spPr>
          <a:xfrm>
            <a:off x="3274474" y="2792036"/>
            <a:ext cx="6808481" cy="149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pt-BR" altLang="zh-CN" sz="3200" b="0" i="0" dirty="0">
                <a:solidFill>
                  <a:srgbClr val="555666"/>
                </a:solidFill>
                <a:effectLst/>
                <a:latin typeface="-apple-system"/>
              </a:rPr>
              <a:t>F(n) = Max{Cn+F(n-2), F(n-1)}   </a:t>
            </a:r>
            <a:r>
              <a:rPr lang="en-US" altLang="zh-CN" sz="3200" b="0" i="0" dirty="0">
                <a:solidFill>
                  <a:srgbClr val="555666"/>
                </a:solidFill>
                <a:effectLst/>
                <a:latin typeface="-apple-system"/>
              </a:rPr>
              <a:t>n&gt;1</a:t>
            </a:r>
            <a:br>
              <a:rPr lang="pt-BR" altLang="zh-CN" sz="3200" dirty="0"/>
            </a:br>
            <a:r>
              <a:rPr lang="pt-BR" altLang="zh-CN" sz="3200" b="0" i="0" dirty="0">
                <a:solidFill>
                  <a:srgbClr val="555666"/>
                </a:solidFill>
                <a:effectLst/>
                <a:latin typeface="-apple-system"/>
              </a:rPr>
              <a:t>F(0) = 0, F(1) = c1</a:t>
            </a:r>
            <a:endParaRPr lang="en-US" altLang="zh-CN" sz="3200" dirty="0">
              <a:solidFill>
                <a:schemeClr val="bg2">
                  <a:lumMod val="25000"/>
                  <a:alpha val="92000"/>
                </a:schemeClr>
              </a:solidFill>
              <a:latin typeface="+mn-lt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淘宝店chenying0907出品 43">
            <a:extLst>
              <a:ext uri="{FF2B5EF4-FFF2-40B4-BE49-F238E27FC236}">
                <a16:creationId xmlns:a16="http://schemas.microsoft.com/office/drawing/2014/main" id="{D7D2D9B3-4977-484F-A35A-CF88B40F3870}"/>
              </a:ext>
            </a:extLst>
          </p:cNvPr>
          <p:cNvSpPr/>
          <p:nvPr/>
        </p:nvSpPr>
        <p:spPr>
          <a:xfrm>
            <a:off x="1980665" y="4793536"/>
            <a:ext cx="8193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3200" b="0" i="0" dirty="0">
                <a:solidFill>
                  <a:srgbClr val="4D4D4D"/>
                </a:solidFill>
                <a:effectLst/>
                <a:latin typeface="-apple-system"/>
              </a:rPr>
              <a:t>再用</a:t>
            </a:r>
            <a:r>
              <a:rPr lang="zh-CN" altLang="en-US" sz="3600" b="1" i="0" dirty="0">
                <a:solidFill>
                  <a:srgbClr val="4D4D4D"/>
                </a:solidFill>
                <a:effectLst/>
                <a:latin typeface="-apple-system"/>
              </a:rPr>
              <a:t>回溯的方法</a:t>
            </a:r>
            <a:r>
              <a:rPr lang="zh-CN" altLang="en-US" sz="3200" b="0" i="0" dirty="0">
                <a:solidFill>
                  <a:srgbClr val="4D4D4D"/>
                </a:solidFill>
                <a:effectLst/>
                <a:latin typeface="-apple-system"/>
              </a:rPr>
              <a:t>得到获取最大值的各个币值</a:t>
            </a:r>
            <a:endParaRPr lang="en-US" altLang="zh-CN" sz="3200" dirty="0">
              <a:solidFill>
                <a:schemeClr val="bg2">
                  <a:lumMod val="25000"/>
                  <a:alpha val="92000"/>
                </a:schemeClr>
              </a:solidFill>
              <a:latin typeface="+mn-lt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66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6892569" y="1089178"/>
            <a:ext cx="2611120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n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= 0, F(1) = c1 = 5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DA74B9-45E5-4769-9C40-BE1B1F8E0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663" y="895831"/>
            <a:ext cx="4624407" cy="10384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763FAF-EE6F-43E4-89DF-2BC40CF043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663" y="2110925"/>
            <a:ext cx="4624383" cy="100954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DF7D519-1E35-49B4-B8DF-A0A3AAB252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662" y="3282669"/>
            <a:ext cx="4619050" cy="1007646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F9365E9A-E509-41E4-998B-05C44CB91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330" y="4443072"/>
            <a:ext cx="4624382" cy="102138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81C5A9C0-60D0-49C1-909A-10783E813A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330" y="5608730"/>
            <a:ext cx="4624382" cy="1044739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5433C10B-AB74-4B7A-A0AB-CCA12F646B79}"/>
              </a:ext>
            </a:extLst>
          </p:cNvPr>
          <p:cNvSpPr/>
          <p:nvPr/>
        </p:nvSpPr>
        <p:spPr>
          <a:xfrm>
            <a:off x="6773783" y="2227028"/>
            <a:ext cx="2953447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(2)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= Max{1 + 0, 5} = 5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84D1EEB-7F28-4593-986A-5CBA63215460}"/>
              </a:ext>
            </a:extLst>
          </p:cNvPr>
          <p:cNvSpPr/>
          <p:nvPr/>
        </p:nvSpPr>
        <p:spPr>
          <a:xfrm>
            <a:off x="6620640" y="3451770"/>
            <a:ext cx="3131331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= Max{2 + 5, 5} = 7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4AF246A-8602-4E97-963C-F55EDF06A71B}"/>
              </a:ext>
            </a:extLst>
          </p:cNvPr>
          <p:cNvSpPr/>
          <p:nvPr/>
        </p:nvSpPr>
        <p:spPr>
          <a:xfrm>
            <a:off x="6807713" y="5814368"/>
            <a:ext cx="3162031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(5)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= Max{6 + 7, 15} = 15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25B8A19-BF27-4D28-81E0-FCED8BBA1B33}"/>
              </a:ext>
            </a:extLst>
          </p:cNvPr>
          <p:cNvSpPr/>
          <p:nvPr/>
        </p:nvSpPr>
        <p:spPr>
          <a:xfrm>
            <a:off x="6796086" y="4633069"/>
            <a:ext cx="3185287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4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= Max{10 + 5, 7} = 15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19243DE-2D3E-4D56-AB5F-15F9EB54EA09}"/>
              </a:ext>
            </a:extLst>
          </p:cNvPr>
          <p:cNvSpPr txBox="1"/>
          <p:nvPr/>
        </p:nvSpPr>
        <p:spPr>
          <a:xfrm>
            <a:off x="3928313" y="349869"/>
            <a:ext cx="4624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例：求解一排硬币</a:t>
            </a:r>
            <a:r>
              <a:rPr lang="en-US" altLang="zh-CN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r>
              <a:rPr lang="zh-CN" altLang="en-US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，</a:t>
            </a:r>
            <a:r>
              <a:rPr lang="en-US" altLang="zh-CN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zh-CN" altLang="en-US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，</a:t>
            </a:r>
            <a:r>
              <a:rPr lang="en-US" altLang="zh-CN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zh-CN" altLang="en-US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，</a:t>
            </a:r>
            <a:r>
              <a:rPr lang="en-US" altLang="zh-CN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r>
              <a:rPr lang="zh-CN" altLang="en-US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，</a:t>
            </a:r>
            <a:r>
              <a:rPr lang="en-US" altLang="zh-CN" sz="2000" spc="100" dirty="0">
                <a:uFillTx/>
                <a:latin typeface="方正细圆简体" panose="02010601030101010101" charset="-122"/>
                <a:ea typeface="方正细圆简体" panose="02010601030101010101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zh-CN" altLang="en-US" sz="1400" spc="400" dirty="0">
              <a:uFillTx/>
              <a:latin typeface="方正细圆简体" panose="02010601030101010101" charset="-122"/>
              <a:ea typeface="方正细圆简体" panose="02010601030101010101" charset="-122"/>
            </a:endParaRPr>
          </a:p>
        </p:txBody>
      </p:sp>
      <p:sp>
        <p:nvSpPr>
          <p:cNvPr id="47" name="Oval 152">
            <a:hlinkClick r:id="rId10" action="ppaction://hlinkfile"/>
            <a:extLst>
              <a:ext uri="{FF2B5EF4-FFF2-40B4-BE49-F238E27FC236}">
                <a16:creationId xmlns:a16="http://schemas.microsoft.com/office/drawing/2014/main" id="{73B0E028-EF6E-47A8-A78A-6DF02D518F7B}"/>
              </a:ext>
            </a:extLst>
          </p:cNvPr>
          <p:cNvSpPr/>
          <p:nvPr/>
        </p:nvSpPr>
        <p:spPr>
          <a:xfrm>
            <a:off x="3307776" y="115138"/>
            <a:ext cx="620537" cy="657005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15D9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48" name="组合 38">
            <a:extLst>
              <a:ext uri="{FF2B5EF4-FFF2-40B4-BE49-F238E27FC236}">
                <a16:creationId xmlns:a16="http://schemas.microsoft.com/office/drawing/2014/main" id="{C9409E3D-F53B-4FEA-86C9-3D6209CF12DF}"/>
              </a:ext>
            </a:extLst>
          </p:cNvPr>
          <p:cNvGrpSpPr/>
          <p:nvPr/>
        </p:nvGrpSpPr>
        <p:grpSpPr>
          <a:xfrm>
            <a:off x="3386311" y="298795"/>
            <a:ext cx="419100" cy="309880"/>
            <a:chOff x="5657242" y="1173243"/>
            <a:chExt cx="419100" cy="309562"/>
          </a:xfrm>
        </p:grpSpPr>
        <p:sp>
          <p:nvSpPr>
            <p:cNvPr id="49" name="Rectangle 218">
              <a:extLst>
                <a:ext uri="{FF2B5EF4-FFF2-40B4-BE49-F238E27FC236}">
                  <a16:creationId xmlns:a16="http://schemas.microsoft.com/office/drawing/2014/main" id="{8223B305-C90D-45FA-8C96-6A75CE25F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7242" y="1173243"/>
              <a:ext cx="419100" cy="309562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0" name="Line 219">
              <a:extLst>
                <a:ext uri="{FF2B5EF4-FFF2-40B4-BE49-F238E27FC236}">
                  <a16:creationId xmlns:a16="http://schemas.microsoft.com/office/drawing/2014/main" id="{9A99189F-86BD-49C5-85E8-313990547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11217" y="1227218"/>
              <a:ext cx="0" cy="20002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1" name="Line 220">
              <a:extLst>
                <a:ext uri="{FF2B5EF4-FFF2-40B4-BE49-F238E27FC236}">
                  <a16:creationId xmlns:a16="http://schemas.microsoft.com/office/drawing/2014/main" id="{5EC139D1-547D-4BD7-AAE2-C14CD2573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7730" y="1227218"/>
              <a:ext cx="0" cy="16351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2" name="Line 221">
              <a:extLst>
                <a:ext uri="{FF2B5EF4-FFF2-40B4-BE49-F238E27FC236}">
                  <a16:creationId xmlns:a16="http://schemas.microsoft.com/office/drawing/2014/main" id="{ACAD4F9A-CFC5-424C-95A0-D2DAD3CB5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03292" y="1227218"/>
              <a:ext cx="0" cy="16351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3" name="Line 222">
              <a:extLst>
                <a:ext uri="{FF2B5EF4-FFF2-40B4-BE49-F238E27FC236}">
                  <a16:creationId xmlns:a16="http://schemas.microsoft.com/office/drawing/2014/main" id="{07BD9392-0172-4FE3-ACE3-0E3909586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9805" y="1227218"/>
              <a:ext cx="0" cy="16351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4" name="Line 223">
              <a:extLst>
                <a:ext uri="{FF2B5EF4-FFF2-40B4-BE49-F238E27FC236}">
                  <a16:creationId xmlns:a16="http://schemas.microsoft.com/office/drawing/2014/main" id="{97FED001-B408-4FBA-8F1C-B6B8D6F98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74730" y="1227218"/>
              <a:ext cx="0" cy="16351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5" name="Line 224">
              <a:extLst>
                <a:ext uri="{FF2B5EF4-FFF2-40B4-BE49-F238E27FC236}">
                  <a16:creationId xmlns:a16="http://schemas.microsoft.com/office/drawing/2014/main" id="{798AA025-8240-4FF7-9412-AE6F99022D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30292" y="1227218"/>
              <a:ext cx="0" cy="16351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6" name="Line 225">
              <a:extLst>
                <a:ext uri="{FF2B5EF4-FFF2-40B4-BE49-F238E27FC236}">
                  <a16:creationId xmlns:a16="http://schemas.microsoft.com/office/drawing/2014/main" id="{0543C2E6-FAC3-4B4F-A948-228972E72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66805" y="1227218"/>
              <a:ext cx="0" cy="16351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7" name="Line 226">
              <a:extLst>
                <a:ext uri="{FF2B5EF4-FFF2-40B4-BE49-F238E27FC236}">
                  <a16:creationId xmlns:a16="http://schemas.microsoft.com/office/drawing/2014/main" id="{37F9CA70-E9C7-4105-B92B-E098A2DAA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7730" y="1427242"/>
              <a:ext cx="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8" name="Line 227">
              <a:extLst>
                <a:ext uri="{FF2B5EF4-FFF2-40B4-BE49-F238E27FC236}">
                  <a16:creationId xmlns:a16="http://schemas.microsoft.com/office/drawing/2014/main" id="{EB5F5F57-73FC-4D90-A2B6-42FCBFC0D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3292" y="1427242"/>
              <a:ext cx="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9" name="Line 228">
              <a:extLst>
                <a:ext uri="{FF2B5EF4-FFF2-40B4-BE49-F238E27FC236}">
                  <a16:creationId xmlns:a16="http://schemas.microsoft.com/office/drawing/2014/main" id="{0C6E78D6-175D-4562-9E68-F18CA132E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9805" y="1427242"/>
              <a:ext cx="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0" name="Line 229">
              <a:extLst>
                <a:ext uri="{FF2B5EF4-FFF2-40B4-BE49-F238E27FC236}">
                  <a16:creationId xmlns:a16="http://schemas.microsoft.com/office/drawing/2014/main" id="{0636DB63-F4E6-4608-87E6-7519CA73C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4730" y="1427242"/>
              <a:ext cx="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1" name="Line 230">
              <a:extLst>
                <a:ext uri="{FF2B5EF4-FFF2-40B4-BE49-F238E27FC236}">
                  <a16:creationId xmlns:a16="http://schemas.microsoft.com/office/drawing/2014/main" id="{AA5A5EB8-83E3-4EDA-ABBF-0E675E812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0292" y="1427242"/>
              <a:ext cx="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2" name="Line 231">
              <a:extLst>
                <a:ext uri="{FF2B5EF4-FFF2-40B4-BE49-F238E27FC236}">
                  <a16:creationId xmlns:a16="http://schemas.microsoft.com/office/drawing/2014/main" id="{91211FC3-249D-461E-8FDE-30727DB23C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6805" y="1427242"/>
              <a:ext cx="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3" name="Line 232">
              <a:extLst>
                <a:ext uri="{FF2B5EF4-FFF2-40B4-BE49-F238E27FC236}">
                  <a16:creationId xmlns:a16="http://schemas.microsoft.com/office/drawing/2014/main" id="{D55BF103-6DD0-4595-B8EF-A329B8B2A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20780" y="1227218"/>
              <a:ext cx="0" cy="20002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825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2" grpId="0"/>
      <p:bldP spid="43" grpId="0"/>
      <p:bldP spid="4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sp>
        <p:nvSpPr>
          <p:cNvPr id="7" name="Oval 145"/>
          <p:cNvSpPr/>
          <p:nvPr/>
        </p:nvSpPr>
        <p:spPr>
          <a:xfrm>
            <a:off x="1423291" y="1189228"/>
            <a:ext cx="732914" cy="646332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15D9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Oval 154"/>
          <p:cNvSpPr/>
          <p:nvPr/>
        </p:nvSpPr>
        <p:spPr>
          <a:xfrm>
            <a:off x="1536985" y="3921583"/>
            <a:ext cx="677275" cy="658754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15D9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Oval 155"/>
          <p:cNvSpPr/>
          <p:nvPr/>
        </p:nvSpPr>
        <p:spPr>
          <a:xfrm>
            <a:off x="1460698" y="2465867"/>
            <a:ext cx="732914" cy="699210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15D9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1519" name="组合 18"/>
          <p:cNvGrpSpPr/>
          <p:nvPr/>
        </p:nvGrpSpPr>
        <p:grpSpPr>
          <a:xfrm>
            <a:off x="1499951" y="1268738"/>
            <a:ext cx="579594" cy="478776"/>
            <a:chOff x="5800903" y="2027221"/>
            <a:chExt cx="632013" cy="632013"/>
          </a:xfrm>
          <a:noFill/>
        </p:grpSpPr>
        <p:sp>
          <p:nvSpPr>
            <p:cNvPr id="22" name="Teardrop 190"/>
            <p:cNvSpPr/>
            <p:nvPr/>
          </p:nvSpPr>
          <p:spPr>
            <a:xfrm>
              <a:off x="5800903" y="2408334"/>
              <a:ext cx="250900" cy="250900"/>
            </a:xfrm>
            <a:prstGeom prst="teardrop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3" name="Teardrop 191"/>
            <p:cNvSpPr/>
            <p:nvPr/>
          </p:nvSpPr>
          <p:spPr>
            <a:xfrm rot="10800000">
              <a:off x="6051803" y="2027221"/>
              <a:ext cx="381113" cy="381113"/>
            </a:xfrm>
            <a:prstGeom prst="teardrop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4" name="Teardrop 194"/>
            <p:cNvSpPr/>
            <p:nvPr/>
          </p:nvSpPr>
          <p:spPr>
            <a:xfrm rot="5400000">
              <a:off x="5866804" y="2224924"/>
              <a:ext cx="131802" cy="133390"/>
            </a:xfrm>
            <a:prstGeom prst="teardrop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21524" name="组合 65"/>
          <p:cNvGrpSpPr/>
          <p:nvPr/>
        </p:nvGrpSpPr>
        <p:grpSpPr>
          <a:xfrm>
            <a:off x="1666072" y="4134278"/>
            <a:ext cx="419100" cy="273050"/>
            <a:chOff x="7806717" y="1190705"/>
            <a:chExt cx="419100" cy="273050"/>
          </a:xfrm>
        </p:grpSpPr>
        <p:sp>
          <p:nvSpPr>
            <p:cNvPr id="69" name="Freeform 246"/>
            <p:cNvSpPr/>
            <p:nvPr/>
          </p:nvSpPr>
          <p:spPr bwMode="auto">
            <a:xfrm>
              <a:off x="7806717" y="1190705"/>
              <a:ext cx="419100" cy="273050"/>
            </a:xfrm>
            <a:custGeom>
              <a:avLst/>
              <a:gdLst>
                <a:gd name="T0" fmla="*/ 184 w 184"/>
                <a:gd name="T1" fmla="*/ 112 h 120"/>
                <a:gd name="T2" fmla="*/ 176 w 184"/>
                <a:gd name="T3" fmla="*/ 120 h 120"/>
                <a:gd name="T4" fmla="*/ 8 w 184"/>
                <a:gd name="T5" fmla="*/ 120 h 120"/>
                <a:gd name="T6" fmla="*/ 0 w 184"/>
                <a:gd name="T7" fmla="*/ 112 h 120"/>
                <a:gd name="T8" fmla="*/ 0 w 184"/>
                <a:gd name="T9" fmla="*/ 8 h 120"/>
                <a:gd name="T10" fmla="*/ 8 w 184"/>
                <a:gd name="T11" fmla="*/ 0 h 120"/>
                <a:gd name="T12" fmla="*/ 176 w 184"/>
                <a:gd name="T13" fmla="*/ 0 h 120"/>
                <a:gd name="T14" fmla="*/ 184 w 184"/>
                <a:gd name="T15" fmla="*/ 8 h 120"/>
                <a:gd name="T16" fmla="*/ 184 w 184"/>
                <a:gd name="T17" fmla="*/ 11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20">
                  <a:moveTo>
                    <a:pt x="184" y="112"/>
                  </a:moveTo>
                  <a:cubicBezTo>
                    <a:pt x="184" y="116"/>
                    <a:pt x="181" y="120"/>
                    <a:pt x="17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4" y="120"/>
                    <a:pt x="0" y="116"/>
                    <a:pt x="0" y="1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1" y="0"/>
                    <a:pt x="184" y="3"/>
                    <a:pt x="184" y="8"/>
                  </a:cubicBezTo>
                  <a:lnTo>
                    <a:pt x="184" y="112"/>
                  </a:lnTo>
                  <a:close/>
                </a:path>
              </a:pathLst>
            </a:custGeom>
            <a:noFill/>
            <a:ln w="7366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0" name="Line 247"/>
            <p:cNvSpPr>
              <a:spLocks noChangeShapeType="1"/>
            </p:cNvSpPr>
            <p:nvPr/>
          </p:nvSpPr>
          <p:spPr bwMode="auto">
            <a:xfrm>
              <a:off x="7806717" y="1246268"/>
              <a:ext cx="419100" cy="0"/>
            </a:xfrm>
            <a:prstGeom prst="line">
              <a:avLst/>
            </a:prstGeom>
            <a:noFill/>
            <a:ln w="7366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1" name="Line 248"/>
            <p:cNvSpPr>
              <a:spLocks noChangeShapeType="1"/>
            </p:cNvSpPr>
            <p:nvPr/>
          </p:nvSpPr>
          <p:spPr bwMode="auto">
            <a:xfrm>
              <a:off x="7806717" y="1281193"/>
              <a:ext cx="419100" cy="0"/>
            </a:xfrm>
            <a:prstGeom prst="line">
              <a:avLst/>
            </a:prstGeom>
            <a:noFill/>
            <a:ln w="7366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2" name="Line 249"/>
            <p:cNvSpPr>
              <a:spLocks noChangeShapeType="1"/>
            </p:cNvSpPr>
            <p:nvPr/>
          </p:nvSpPr>
          <p:spPr bwMode="auto">
            <a:xfrm>
              <a:off x="7860692" y="1390730"/>
              <a:ext cx="128588" cy="0"/>
            </a:xfrm>
            <a:prstGeom prst="line">
              <a:avLst/>
            </a:prstGeom>
            <a:noFill/>
            <a:ln w="7366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3" name="Freeform 250"/>
            <p:cNvSpPr/>
            <p:nvPr/>
          </p:nvSpPr>
          <p:spPr bwMode="auto">
            <a:xfrm>
              <a:off x="8079767" y="1354218"/>
              <a:ext cx="90488" cy="55562"/>
            </a:xfrm>
            <a:custGeom>
              <a:avLst/>
              <a:gdLst>
                <a:gd name="T0" fmla="*/ 28 w 40"/>
                <a:gd name="T1" fmla="*/ 0 h 24"/>
                <a:gd name="T2" fmla="*/ 20 w 40"/>
                <a:gd name="T3" fmla="*/ 3 h 24"/>
                <a:gd name="T4" fmla="*/ 12 w 40"/>
                <a:gd name="T5" fmla="*/ 0 h 24"/>
                <a:gd name="T6" fmla="*/ 0 w 40"/>
                <a:gd name="T7" fmla="*/ 12 h 24"/>
                <a:gd name="T8" fmla="*/ 12 w 40"/>
                <a:gd name="T9" fmla="*/ 24 h 24"/>
                <a:gd name="T10" fmla="*/ 20 w 40"/>
                <a:gd name="T11" fmla="*/ 21 h 24"/>
                <a:gd name="T12" fmla="*/ 28 w 40"/>
                <a:gd name="T13" fmla="*/ 24 h 24"/>
                <a:gd name="T14" fmla="*/ 40 w 40"/>
                <a:gd name="T15" fmla="*/ 12 h 24"/>
                <a:gd name="T16" fmla="*/ 28 w 40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24">
                  <a:moveTo>
                    <a:pt x="28" y="0"/>
                  </a:moveTo>
                  <a:cubicBezTo>
                    <a:pt x="25" y="0"/>
                    <a:pt x="22" y="1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5" y="24"/>
                    <a:pt x="18" y="23"/>
                    <a:pt x="20" y="21"/>
                  </a:cubicBezTo>
                  <a:cubicBezTo>
                    <a:pt x="22" y="23"/>
                    <a:pt x="25" y="24"/>
                    <a:pt x="28" y="24"/>
                  </a:cubicBezTo>
                  <a:cubicBezTo>
                    <a:pt x="35" y="24"/>
                    <a:pt x="40" y="18"/>
                    <a:pt x="40" y="12"/>
                  </a:cubicBezTo>
                  <a:cubicBezTo>
                    <a:pt x="40" y="5"/>
                    <a:pt x="35" y="0"/>
                    <a:pt x="28" y="0"/>
                  </a:cubicBezTo>
                  <a:close/>
                </a:path>
              </a:pathLst>
            </a:custGeom>
            <a:noFill/>
            <a:ln w="7366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21525" name="组合 71"/>
          <p:cNvGrpSpPr/>
          <p:nvPr/>
        </p:nvGrpSpPr>
        <p:grpSpPr>
          <a:xfrm>
            <a:off x="1616017" y="2615295"/>
            <a:ext cx="422275" cy="417830"/>
            <a:chOff x="8888147" y="1114740"/>
            <a:chExt cx="422529" cy="417711"/>
          </a:xfrm>
        </p:grpSpPr>
        <p:sp>
          <p:nvSpPr>
            <p:cNvPr id="75" name="Line 269"/>
            <p:cNvSpPr>
              <a:spLocks noChangeShapeType="1"/>
            </p:cNvSpPr>
            <p:nvPr/>
          </p:nvSpPr>
          <p:spPr bwMode="auto">
            <a:xfrm>
              <a:off x="9089880" y="1422861"/>
              <a:ext cx="74658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6" name="Freeform 270"/>
            <p:cNvSpPr/>
            <p:nvPr/>
          </p:nvSpPr>
          <p:spPr bwMode="auto">
            <a:xfrm>
              <a:off x="8907208" y="1114740"/>
              <a:ext cx="384406" cy="190590"/>
            </a:xfrm>
            <a:custGeom>
              <a:avLst/>
              <a:gdLst>
                <a:gd name="T0" fmla="*/ 168 w 168"/>
                <a:gd name="T1" fmla="*/ 84 h 84"/>
                <a:gd name="T2" fmla="*/ 168 w 168"/>
                <a:gd name="T3" fmla="*/ 8 h 84"/>
                <a:gd name="T4" fmla="*/ 160 w 168"/>
                <a:gd name="T5" fmla="*/ 0 h 84"/>
                <a:gd name="T6" fmla="*/ 8 w 168"/>
                <a:gd name="T7" fmla="*/ 0 h 84"/>
                <a:gd name="T8" fmla="*/ 0 w 168"/>
                <a:gd name="T9" fmla="*/ 8 h 84"/>
                <a:gd name="T10" fmla="*/ 0 w 168"/>
                <a:gd name="T11" fmla="*/ 5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" h="84">
                  <a:moveTo>
                    <a:pt x="168" y="84"/>
                  </a:moveTo>
                  <a:cubicBezTo>
                    <a:pt x="168" y="8"/>
                    <a:pt x="168" y="8"/>
                    <a:pt x="168" y="8"/>
                  </a:cubicBezTo>
                  <a:cubicBezTo>
                    <a:pt x="168" y="3"/>
                    <a:pt x="165" y="0"/>
                    <a:pt x="16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56"/>
                    <a:pt x="0" y="56"/>
                    <a:pt x="0" y="5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7" name="Line 271"/>
            <p:cNvSpPr>
              <a:spLocks noChangeShapeType="1"/>
            </p:cNvSpPr>
            <p:nvPr/>
          </p:nvSpPr>
          <p:spPr bwMode="auto">
            <a:xfrm>
              <a:off x="9089880" y="1368860"/>
              <a:ext cx="74658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8" name="Freeform 272"/>
            <p:cNvSpPr/>
            <p:nvPr/>
          </p:nvSpPr>
          <p:spPr bwMode="auto">
            <a:xfrm>
              <a:off x="8888147" y="1241800"/>
              <a:ext cx="201733" cy="289062"/>
            </a:xfrm>
            <a:custGeom>
              <a:avLst/>
              <a:gdLst>
                <a:gd name="T0" fmla="*/ 88 w 88"/>
                <a:gd name="T1" fmla="*/ 120 h 128"/>
                <a:gd name="T2" fmla="*/ 80 w 88"/>
                <a:gd name="T3" fmla="*/ 128 h 128"/>
                <a:gd name="T4" fmla="*/ 8 w 88"/>
                <a:gd name="T5" fmla="*/ 128 h 128"/>
                <a:gd name="T6" fmla="*/ 0 w 88"/>
                <a:gd name="T7" fmla="*/ 120 h 128"/>
                <a:gd name="T8" fmla="*/ 0 w 88"/>
                <a:gd name="T9" fmla="*/ 8 h 128"/>
                <a:gd name="T10" fmla="*/ 8 w 88"/>
                <a:gd name="T11" fmla="*/ 0 h 128"/>
                <a:gd name="T12" fmla="*/ 80 w 88"/>
                <a:gd name="T13" fmla="*/ 0 h 128"/>
                <a:gd name="T14" fmla="*/ 88 w 88"/>
                <a:gd name="T15" fmla="*/ 8 h 128"/>
                <a:gd name="T16" fmla="*/ 88 w 88"/>
                <a:gd name="T17" fmla="*/ 12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8">
                  <a:moveTo>
                    <a:pt x="88" y="120"/>
                  </a:moveTo>
                  <a:cubicBezTo>
                    <a:pt x="88" y="124"/>
                    <a:pt x="85" y="128"/>
                    <a:pt x="80" y="128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4" y="128"/>
                    <a:pt x="0" y="124"/>
                    <a:pt x="0" y="12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0"/>
                    <a:pt x="88" y="3"/>
                    <a:pt x="88" y="8"/>
                  </a:cubicBezTo>
                  <a:lnTo>
                    <a:pt x="88" y="120"/>
                  </a:ln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9" name="Line 273"/>
            <p:cNvSpPr>
              <a:spLocks noChangeShapeType="1"/>
            </p:cNvSpPr>
            <p:nvPr/>
          </p:nvSpPr>
          <p:spPr bwMode="auto">
            <a:xfrm>
              <a:off x="8989808" y="1494333"/>
              <a:ext cx="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0" name="Rectangle 274"/>
            <p:cNvSpPr>
              <a:spLocks noChangeArrowheads="1"/>
            </p:cNvSpPr>
            <p:nvPr/>
          </p:nvSpPr>
          <p:spPr bwMode="auto">
            <a:xfrm>
              <a:off x="8924681" y="1278331"/>
              <a:ext cx="128665" cy="181061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1" name="Freeform 275"/>
            <p:cNvSpPr/>
            <p:nvPr/>
          </p:nvSpPr>
          <p:spPr bwMode="auto">
            <a:xfrm>
              <a:off x="9164538" y="1314860"/>
              <a:ext cx="146138" cy="217591"/>
            </a:xfrm>
            <a:custGeom>
              <a:avLst/>
              <a:gdLst>
                <a:gd name="T0" fmla="*/ 64 w 64"/>
                <a:gd name="T1" fmla="*/ 88 h 96"/>
                <a:gd name="T2" fmla="*/ 56 w 64"/>
                <a:gd name="T3" fmla="*/ 96 h 96"/>
                <a:gd name="T4" fmla="*/ 8 w 64"/>
                <a:gd name="T5" fmla="*/ 96 h 96"/>
                <a:gd name="T6" fmla="*/ 0 w 64"/>
                <a:gd name="T7" fmla="*/ 88 h 96"/>
                <a:gd name="T8" fmla="*/ 0 w 64"/>
                <a:gd name="T9" fmla="*/ 8 h 96"/>
                <a:gd name="T10" fmla="*/ 8 w 64"/>
                <a:gd name="T11" fmla="*/ 0 h 96"/>
                <a:gd name="T12" fmla="*/ 56 w 64"/>
                <a:gd name="T13" fmla="*/ 0 h 96"/>
                <a:gd name="T14" fmla="*/ 64 w 64"/>
                <a:gd name="T15" fmla="*/ 8 h 96"/>
                <a:gd name="T16" fmla="*/ 64 w 64"/>
                <a:gd name="T17" fmla="*/ 8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96">
                  <a:moveTo>
                    <a:pt x="64" y="88"/>
                  </a:moveTo>
                  <a:cubicBezTo>
                    <a:pt x="64" y="92"/>
                    <a:pt x="61" y="96"/>
                    <a:pt x="56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4" y="96"/>
                    <a:pt x="0" y="92"/>
                    <a:pt x="0" y="8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1" y="0"/>
                    <a:pt x="64" y="3"/>
                    <a:pt x="64" y="8"/>
                  </a:cubicBezTo>
                  <a:lnTo>
                    <a:pt x="64" y="88"/>
                  </a:ln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2" name="Line 276"/>
            <p:cNvSpPr>
              <a:spLocks noChangeShapeType="1"/>
            </p:cNvSpPr>
            <p:nvPr/>
          </p:nvSpPr>
          <p:spPr bwMode="auto">
            <a:xfrm>
              <a:off x="9234430" y="1494333"/>
              <a:ext cx="0" cy="0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3" name="Rectangle 277"/>
            <p:cNvSpPr>
              <a:spLocks noChangeArrowheads="1"/>
            </p:cNvSpPr>
            <p:nvPr/>
          </p:nvSpPr>
          <p:spPr bwMode="auto">
            <a:xfrm>
              <a:off x="9201072" y="1351390"/>
              <a:ext cx="73069" cy="108001"/>
            </a:xfrm>
            <a:prstGeom prst="rect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21537" name="TextBox 13"/>
          <p:cNvSpPr txBox="1"/>
          <p:nvPr/>
        </p:nvSpPr>
        <p:spPr>
          <a:xfrm>
            <a:off x="2120776" y="1198649"/>
            <a:ext cx="519809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216025"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sz="1400" b="1" dirty="0">
                <a:solidFill>
                  <a:schemeClr val="bg2">
                    <a:lumMod val="10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问题</a:t>
            </a:r>
            <a:endParaRPr lang="en-US" altLang="zh-CN" sz="1400" b="1" dirty="0">
              <a:solidFill>
                <a:schemeClr val="bg2">
                  <a:lumMod val="10000"/>
                </a:schemeClr>
              </a:solidFill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03398" y="2362900"/>
            <a:ext cx="7175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思路</a:t>
            </a:r>
            <a:endParaRPr lang="en-US" altLang="zh-CN" sz="1400" b="1" dirty="0">
              <a:solidFill>
                <a:schemeClr val="tx1">
                  <a:alpha val="92000"/>
                </a:schemeClr>
              </a:solidFill>
              <a:latin typeface="+mn-lt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BDC7C7BE-C557-4BD7-99CE-D055778D616E}"/>
              </a:ext>
            </a:extLst>
          </p:cNvPr>
          <p:cNvGrpSpPr/>
          <p:nvPr/>
        </p:nvGrpSpPr>
        <p:grpSpPr>
          <a:xfrm>
            <a:off x="3919429" y="264120"/>
            <a:ext cx="4341495" cy="1005840"/>
            <a:chOff x="6152" y="875"/>
            <a:chExt cx="6837" cy="1584"/>
          </a:xfrm>
        </p:grpSpPr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6218EF26-D0BD-4391-A2B5-E4F15BFD145B}"/>
                </a:ext>
              </a:extLst>
            </p:cNvPr>
            <p:cNvSpPr txBox="1"/>
            <p:nvPr/>
          </p:nvSpPr>
          <p:spPr>
            <a:xfrm>
              <a:off x="6921" y="981"/>
              <a:ext cx="5352" cy="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spc="100" dirty="0">
                  <a:latin typeface="方正细圆简体" panose="02010601030101010101" charset="-122"/>
                  <a:ea typeface="方正细圆简体" panose="02010601030101010101" charset="-122"/>
                </a:rPr>
                <a:t>找零问题</a:t>
              </a:r>
              <a:endParaRPr lang="zh-CN" altLang="en-US" sz="1400" spc="400" dirty="0">
                <a:solidFill>
                  <a:schemeClr val="tx1"/>
                </a:solidFill>
                <a:uFillTx/>
                <a:latin typeface="方正细圆简体" panose="02010601030101010101" charset="-122"/>
                <a:ea typeface="方正细圆简体" panose="02010601030101010101" charset="-122"/>
              </a:endParaRPr>
            </a:p>
          </p:txBody>
        </p:sp>
        <p:sp>
          <p:nvSpPr>
            <p:cNvPr id="105" name="圆角矩形 1">
              <a:extLst>
                <a:ext uri="{FF2B5EF4-FFF2-40B4-BE49-F238E27FC236}">
                  <a16:creationId xmlns:a16="http://schemas.microsoft.com/office/drawing/2014/main" id="{1C65AEE6-3899-4CB8-93F4-8E428BEDF93A}"/>
                </a:ext>
              </a:extLst>
            </p:cNvPr>
            <p:cNvSpPr/>
            <p:nvPr/>
          </p:nvSpPr>
          <p:spPr>
            <a:xfrm>
              <a:off x="6922" y="875"/>
              <a:ext cx="5298" cy="887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6FEEE630-9788-4A0A-9E6B-0142FE36E4BF}"/>
                </a:ext>
              </a:extLst>
            </p:cNvPr>
            <p:cNvSpPr txBox="1"/>
            <p:nvPr/>
          </p:nvSpPr>
          <p:spPr>
            <a:xfrm>
              <a:off x="6152" y="1824"/>
              <a:ext cx="6837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ct val="120000"/>
                </a:lnSpc>
                <a:buFont typeface="Arial" panose="020B0604020202020204" pitchFamily="34" charset="0"/>
              </a:pPr>
              <a:r>
                <a:rPr lang="en-US" altLang="x-none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Change problem</a:t>
              </a:r>
            </a:p>
          </p:txBody>
        </p:sp>
      </p:grp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7CE24CE-E10C-4305-828E-2E249F0727B5}"/>
              </a:ext>
            </a:extLst>
          </p:cNvPr>
          <p:cNvSpPr txBox="1"/>
          <p:nvPr/>
        </p:nvSpPr>
        <p:spPr>
          <a:xfrm>
            <a:off x="2145102" y="1382447"/>
            <a:ext cx="7901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给予不同面值的硬币若干（每种硬币个数无限多），如何用若干种硬币组合为某种面额的钱，使硬币的的个数最少？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346AF64-5982-415C-9010-7D9F4F2155B7}"/>
              </a:ext>
            </a:extLst>
          </p:cNvPr>
          <p:cNvSpPr txBox="1"/>
          <p:nvPr/>
        </p:nvSpPr>
        <p:spPr>
          <a:xfrm>
            <a:off x="2367839" y="3947537"/>
            <a:ext cx="3665409" cy="114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当 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n&gt;0 F(n)=min{F(n-</a:t>
            </a:r>
            <a:r>
              <a:rPr lang="en-US" altLang="zh-CN" sz="2400" b="1" i="0" dirty="0" err="1">
                <a:solidFill>
                  <a:srgbClr val="4D4D4D"/>
                </a:solidFill>
                <a:effectLst/>
                <a:latin typeface="-apple-system"/>
              </a:rPr>
              <a:t>d</a:t>
            </a:r>
            <a:r>
              <a:rPr lang="en-US" altLang="zh-CN" sz="2400" b="1" i="0" baseline="-25000" dirty="0" err="1">
                <a:solidFill>
                  <a:srgbClr val="4D4D4D"/>
                </a:solidFill>
                <a:effectLst/>
                <a:latin typeface="-apple-system"/>
              </a:rPr>
              <a:t>j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)}+1</a:t>
            </a:r>
            <a:b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</a:b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当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n=0 F(0)=0</a:t>
            </a:r>
            <a:endParaRPr lang="zh-CN" altLang="en-US" sz="2400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737BF92C-F530-4A55-944D-7880259BEEB6}"/>
              </a:ext>
            </a:extLst>
          </p:cNvPr>
          <p:cNvSpPr txBox="1"/>
          <p:nvPr/>
        </p:nvSpPr>
        <p:spPr>
          <a:xfrm>
            <a:off x="2145102" y="2637770"/>
            <a:ext cx="79017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        可以理解获得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的途径为：在总金额为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n-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dj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的一堆硬币中在找一枚面值为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dj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的硬币，其中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j=1,2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...,m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，且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n&gt;=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dj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。因此找到一个满足要求的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dj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使得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F(n-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dj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) + 1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最小的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dj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即可。由于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是常量，所以我们需要专注寻找一个最小的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F(d-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dj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)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721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02" grpId="0"/>
      <p:bldP spid="109" grpId="0"/>
      <p:bldP spid="1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93958" y="2491641"/>
            <a:ext cx="9040482" cy="2189136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518C0E9-C772-4775-9503-2B1B183E0B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273" y="2605134"/>
            <a:ext cx="7029450" cy="196215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5CC99658-8820-44A7-B54A-22BF70CF8DB5}"/>
              </a:ext>
            </a:extLst>
          </p:cNvPr>
          <p:cNvGrpSpPr/>
          <p:nvPr/>
        </p:nvGrpSpPr>
        <p:grpSpPr>
          <a:xfrm>
            <a:off x="3838314" y="483244"/>
            <a:ext cx="4341495" cy="1005840"/>
            <a:chOff x="6152" y="875"/>
            <a:chExt cx="6837" cy="1584"/>
          </a:xfrm>
        </p:grpSpPr>
        <p:sp>
          <p:nvSpPr>
            <p:cNvPr id="24" name="文本框 23">
              <a:hlinkClick r:id="rId5" action="ppaction://hlinkfile"/>
              <a:extLst>
                <a:ext uri="{FF2B5EF4-FFF2-40B4-BE49-F238E27FC236}">
                  <a16:creationId xmlns:a16="http://schemas.microsoft.com/office/drawing/2014/main" id="{85544089-1B6A-46CC-82B8-6F029C1797EA}"/>
                </a:ext>
              </a:extLst>
            </p:cNvPr>
            <p:cNvSpPr txBox="1"/>
            <p:nvPr/>
          </p:nvSpPr>
          <p:spPr>
            <a:xfrm>
              <a:off x="6921" y="981"/>
              <a:ext cx="5352" cy="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spc="100" dirty="0">
                  <a:latin typeface="方正细圆简体" panose="02010601030101010101" charset="-122"/>
                  <a:ea typeface="方正细圆简体" panose="02010601030101010101" charset="-122"/>
                </a:rPr>
                <a:t>找零问题</a:t>
              </a:r>
              <a:endParaRPr lang="zh-CN" altLang="en-US" sz="1400" spc="400" dirty="0">
                <a:solidFill>
                  <a:schemeClr val="tx1"/>
                </a:solidFill>
                <a:uFillTx/>
                <a:latin typeface="方正细圆简体" panose="02010601030101010101" charset="-122"/>
                <a:ea typeface="方正细圆简体" panose="02010601030101010101" charset="-122"/>
              </a:endParaRPr>
            </a:p>
          </p:txBody>
        </p:sp>
        <p:sp>
          <p:nvSpPr>
            <p:cNvPr id="25" name="圆角矩形 1">
              <a:extLst>
                <a:ext uri="{FF2B5EF4-FFF2-40B4-BE49-F238E27FC236}">
                  <a16:creationId xmlns:a16="http://schemas.microsoft.com/office/drawing/2014/main" id="{1F77CBE1-6B57-4F9E-95EC-6E09C67BAD95}"/>
                </a:ext>
              </a:extLst>
            </p:cNvPr>
            <p:cNvSpPr/>
            <p:nvPr/>
          </p:nvSpPr>
          <p:spPr>
            <a:xfrm>
              <a:off x="6922" y="875"/>
              <a:ext cx="5298" cy="887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923B061-F2F0-49E1-8F99-D33E4A0AE61B}"/>
                </a:ext>
              </a:extLst>
            </p:cNvPr>
            <p:cNvSpPr txBox="1"/>
            <p:nvPr/>
          </p:nvSpPr>
          <p:spPr>
            <a:xfrm>
              <a:off x="6152" y="1824"/>
              <a:ext cx="6837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ct val="120000"/>
                </a:lnSpc>
                <a:buFont typeface="Arial" panose="020B0604020202020204" pitchFamily="34" charset="0"/>
              </a:pPr>
              <a:r>
                <a:rPr lang="en-US" altLang="x-none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Change problem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C009813-DC0E-44FB-88D4-1D8F22ED7A84}"/>
              </a:ext>
            </a:extLst>
          </p:cNvPr>
          <p:cNvSpPr txBox="1"/>
          <p:nvPr/>
        </p:nvSpPr>
        <p:spPr>
          <a:xfrm>
            <a:off x="2293389" y="1834730"/>
            <a:ext cx="6443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应用求解：对于</a:t>
            </a:r>
            <a:r>
              <a:rPr lang="en-US" altLang="zh-CN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n=6</a:t>
            </a:r>
            <a:r>
              <a:rPr lang="zh-CN" altLang="en-US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，币值为</a:t>
            </a:r>
            <a:r>
              <a:rPr lang="en-US" altLang="zh-CN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zh-CN" altLang="en-US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，</a:t>
            </a:r>
            <a:r>
              <a:rPr lang="en-US" altLang="zh-CN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zh-CN" altLang="en-US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，</a:t>
            </a:r>
            <a:r>
              <a:rPr lang="en-US" altLang="zh-CN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r>
              <a:rPr lang="zh-CN" altLang="en-US" sz="2000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的硬币的硬币个数：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5199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906520" y="555625"/>
            <a:ext cx="4341495" cy="971550"/>
            <a:chOff x="6152" y="875"/>
            <a:chExt cx="6837" cy="1530"/>
          </a:xfrm>
        </p:grpSpPr>
        <p:sp>
          <p:nvSpPr>
            <p:cNvPr id="10" name="文本框 9"/>
            <p:cNvSpPr txBox="1"/>
            <p:nvPr/>
          </p:nvSpPr>
          <p:spPr>
            <a:xfrm>
              <a:off x="6921" y="981"/>
              <a:ext cx="5352" cy="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spc="100" dirty="0">
                  <a:solidFill>
                    <a:schemeClr val="tx1"/>
                  </a:solidFill>
                  <a:uFillTx/>
                  <a:latin typeface="方正细圆简体" panose="02010601030101010101" charset="-122"/>
                  <a:ea typeface="方正细圆简体" panose="02010601030101010101" charset="-122"/>
                </a:rPr>
                <a:t>硬币收集问题</a:t>
              </a:r>
              <a:endParaRPr lang="zh-CN" altLang="en-US" sz="1400" spc="400" dirty="0">
                <a:solidFill>
                  <a:schemeClr val="tx1"/>
                </a:solidFill>
                <a:uFillTx/>
                <a:latin typeface="方正细圆简体" panose="02010601030101010101" charset="-122"/>
                <a:ea typeface="方正细圆简体" panose="02010601030101010101" charset="-122"/>
              </a:endParaRPr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6922" y="875"/>
              <a:ext cx="5298" cy="887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152" y="1824"/>
              <a:ext cx="6837" cy="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ct val="120000"/>
                </a:lnSpc>
                <a:buFont typeface="Arial" panose="020B0604020202020204" pitchFamily="34" charset="0"/>
              </a:pPr>
              <a:r>
                <a:rPr lang="en-US" altLang="x-none" sz="1600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Coin collection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72813" y="1514041"/>
            <a:ext cx="10682772" cy="4751246"/>
            <a:chOff x="1985" y="2056"/>
            <a:chExt cx="14597" cy="6492"/>
          </a:xfrm>
        </p:grpSpPr>
        <p:sp>
          <p:nvSpPr>
            <p:cNvPr id="7" name="Oval 5"/>
            <p:cNvSpPr/>
            <p:nvPr/>
          </p:nvSpPr>
          <p:spPr>
            <a:xfrm>
              <a:off x="1985" y="2056"/>
              <a:ext cx="6288" cy="64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1363C"/>
                  </a:solidFill>
                </a14:hiddenFill>
              </a:ext>
            </a:extLst>
          </p:spPr>
          <p:txBody>
            <a:bodyPr lIns="121910" tIns="60955" rIns="121910" bIns="60955" anchor="ctr"/>
            <a:lstStyle/>
            <a:p>
              <a:pPr algn="ctr" defTabSz="608965">
                <a:defRPr/>
              </a:pPr>
              <a:endParaRPr lang="en-US" sz="2400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Oval 6"/>
            <p:cNvSpPr/>
            <p:nvPr/>
          </p:nvSpPr>
          <p:spPr>
            <a:xfrm>
              <a:off x="9980" y="2056"/>
              <a:ext cx="6602" cy="6492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</a:ln>
            <a:effectLst/>
          </p:spPr>
          <p:txBody>
            <a:bodyPr lIns="121910" tIns="60955" rIns="121910" bIns="60955" anchor="ctr"/>
            <a:lstStyle/>
            <a:p>
              <a:pPr algn="ctr" defTabSz="608965">
                <a:defRPr/>
              </a:pPr>
              <a:endParaRPr lang="en-US" sz="2400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AutoShape 64"/>
            <p:cNvSpPr/>
            <p:nvPr/>
          </p:nvSpPr>
          <p:spPr bwMode="auto">
            <a:xfrm>
              <a:off x="3772" y="4219"/>
              <a:ext cx="1065" cy="85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0"/>
                  </a:moveTo>
                  <a:cubicBezTo>
                    <a:pt x="20630" y="0"/>
                    <a:pt x="20946" y="161"/>
                    <a:pt x="21208" y="481"/>
                  </a:cubicBezTo>
                  <a:cubicBezTo>
                    <a:pt x="21470" y="798"/>
                    <a:pt x="21599" y="1177"/>
                    <a:pt x="21599" y="1618"/>
                  </a:cubicBezTo>
                  <a:lnTo>
                    <a:pt x="21599" y="19981"/>
                  </a:lnTo>
                  <a:cubicBezTo>
                    <a:pt x="21599" y="20422"/>
                    <a:pt x="21470" y="20801"/>
                    <a:pt x="21208" y="21121"/>
                  </a:cubicBezTo>
                  <a:cubicBezTo>
                    <a:pt x="20946" y="21441"/>
                    <a:pt x="20630" y="21599"/>
                    <a:pt x="20263" y="21599"/>
                  </a:cubicBezTo>
                  <a:lnTo>
                    <a:pt x="1346" y="21599"/>
                  </a:lnTo>
                  <a:cubicBezTo>
                    <a:pt x="979" y="21599"/>
                    <a:pt x="663" y="21441"/>
                    <a:pt x="399" y="21121"/>
                  </a:cubicBezTo>
                  <a:cubicBezTo>
                    <a:pt x="132" y="20801"/>
                    <a:pt x="0" y="20422"/>
                    <a:pt x="0" y="19981"/>
                  </a:cubicBezTo>
                  <a:lnTo>
                    <a:pt x="0" y="1618"/>
                  </a:lnTo>
                  <a:cubicBezTo>
                    <a:pt x="0" y="1177"/>
                    <a:pt x="132" y="798"/>
                    <a:pt x="399" y="481"/>
                  </a:cubicBezTo>
                  <a:cubicBezTo>
                    <a:pt x="663" y="161"/>
                    <a:pt x="979" y="0"/>
                    <a:pt x="1346" y="0"/>
                  </a:cubicBezTo>
                  <a:lnTo>
                    <a:pt x="20263" y="0"/>
                  </a:lnTo>
                  <a:close/>
                  <a:moveTo>
                    <a:pt x="19805" y="2252"/>
                  </a:moveTo>
                  <a:lnTo>
                    <a:pt x="8590" y="2252"/>
                  </a:lnTo>
                  <a:lnTo>
                    <a:pt x="8426" y="3545"/>
                  </a:lnTo>
                  <a:lnTo>
                    <a:pt x="1804" y="3545"/>
                  </a:lnTo>
                  <a:lnTo>
                    <a:pt x="1804" y="5501"/>
                  </a:lnTo>
                  <a:lnTo>
                    <a:pt x="19805" y="5501"/>
                  </a:lnTo>
                  <a:lnTo>
                    <a:pt x="19805" y="2252"/>
                  </a:lnTo>
                  <a:close/>
                  <a:moveTo>
                    <a:pt x="19805" y="17746"/>
                  </a:moveTo>
                  <a:lnTo>
                    <a:pt x="1804" y="17746"/>
                  </a:lnTo>
                  <a:lnTo>
                    <a:pt x="1804" y="19350"/>
                  </a:lnTo>
                  <a:lnTo>
                    <a:pt x="19805" y="19350"/>
                  </a:lnTo>
                  <a:lnTo>
                    <a:pt x="19805" y="17746"/>
                  </a:lnTo>
                  <a:close/>
                  <a:moveTo>
                    <a:pt x="3116" y="2743"/>
                  </a:moveTo>
                  <a:lnTo>
                    <a:pt x="6820" y="2743"/>
                  </a:lnTo>
                  <a:lnTo>
                    <a:pt x="6820" y="1436"/>
                  </a:lnTo>
                  <a:lnTo>
                    <a:pt x="3116" y="1436"/>
                  </a:lnTo>
                  <a:lnTo>
                    <a:pt x="3116" y="2743"/>
                  </a:lnTo>
                  <a:close/>
                  <a:moveTo>
                    <a:pt x="6529" y="11631"/>
                  </a:moveTo>
                  <a:cubicBezTo>
                    <a:pt x="6529" y="12342"/>
                    <a:pt x="6639" y="13011"/>
                    <a:pt x="6862" y="13634"/>
                  </a:cubicBezTo>
                  <a:cubicBezTo>
                    <a:pt x="7084" y="14257"/>
                    <a:pt x="7388" y="14800"/>
                    <a:pt x="7775" y="15264"/>
                  </a:cubicBezTo>
                  <a:cubicBezTo>
                    <a:pt x="8162" y="15731"/>
                    <a:pt x="8617" y="16095"/>
                    <a:pt x="9134" y="16359"/>
                  </a:cubicBezTo>
                  <a:cubicBezTo>
                    <a:pt x="9655" y="16630"/>
                    <a:pt x="10211" y="16762"/>
                    <a:pt x="10806" y="16762"/>
                  </a:cubicBezTo>
                  <a:cubicBezTo>
                    <a:pt x="11398" y="16762"/>
                    <a:pt x="11954" y="16630"/>
                    <a:pt x="12470" y="16359"/>
                  </a:cubicBezTo>
                  <a:cubicBezTo>
                    <a:pt x="12984" y="16095"/>
                    <a:pt x="13435" y="15731"/>
                    <a:pt x="13824" y="15264"/>
                  </a:cubicBezTo>
                  <a:cubicBezTo>
                    <a:pt x="14211" y="14800"/>
                    <a:pt x="14515" y="14257"/>
                    <a:pt x="14737" y="13634"/>
                  </a:cubicBezTo>
                  <a:cubicBezTo>
                    <a:pt x="14960" y="13011"/>
                    <a:pt x="15070" y="12342"/>
                    <a:pt x="15070" y="11631"/>
                  </a:cubicBezTo>
                  <a:cubicBezTo>
                    <a:pt x="15070" y="10917"/>
                    <a:pt x="14960" y="10250"/>
                    <a:pt x="14737" y="9625"/>
                  </a:cubicBezTo>
                  <a:cubicBezTo>
                    <a:pt x="14515" y="9002"/>
                    <a:pt x="14211" y="8461"/>
                    <a:pt x="13824" y="8003"/>
                  </a:cubicBezTo>
                  <a:cubicBezTo>
                    <a:pt x="13435" y="7542"/>
                    <a:pt x="12982" y="7178"/>
                    <a:pt x="12463" y="6914"/>
                  </a:cubicBezTo>
                  <a:cubicBezTo>
                    <a:pt x="11944" y="6646"/>
                    <a:pt x="11391" y="6511"/>
                    <a:pt x="10806" y="6511"/>
                  </a:cubicBezTo>
                  <a:cubicBezTo>
                    <a:pt x="10211" y="6511"/>
                    <a:pt x="9655" y="6646"/>
                    <a:pt x="9134" y="6914"/>
                  </a:cubicBezTo>
                  <a:cubicBezTo>
                    <a:pt x="8617" y="7178"/>
                    <a:pt x="8162" y="7542"/>
                    <a:pt x="7775" y="8003"/>
                  </a:cubicBezTo>
                  <a:cubicBezTo>
                    <a:pt x="7388" y="8461"/>
                    <a:pt x="7084" y="9002"/>
                    <a:pt x="6862" y="9625"/>
                  </a:cubicBezTo>
                  <a:cubicBezTo>
                    <a:pt x="6639" y="10250"/>
                    <a:pt x="6529" y="10917"/>
                    <a:pt x="6529" y="11631"/>
                  </a:cubicBezTo>
                  <a:moveTo>
                    <a:pt x="13724" y="11631"/>
                  </a:moveTo>
                  <a:cubicBezTo>
                    <a:pt x="13724" y="12109"/>
                    <a:pt x="13648" y="12565"/>
                    <a:pt x="13501" y="12999"/>
                  </a:cubicBezTo>
                  <a:cubicBezTo>
                    <a:pt x="13352" y="13434"/>
                    <a:pt x="13146" y="13813"/>
                    <a:pt x="12879" y="14127"/>
                  </a:cubicBezTo>
                  <a:cubicBezTo>
                    <a:pt x="12612" y="14439"/>
                    <a:pt x="12301" y="14688"/>
                    <a:pt x="11942" y="14870"/>
                  </a:cubicBezTo>
                  <a:cubicBezTo>
                    <a:pt x="11582" y="15052"/>
                    <a:pt x="11205" y="15144"/>
                    <a:pt x="10806" y="15144"/>
                  </a:cubicBezTo>
                  <a:cubicBezTo>
                    <a:pt x="10407" y="15144"/>
                    <a:pt x="10025" y="15052"/>
                    <a:pt x="9662" y="14870"/>
                  </a:cubicBezTo>
                  <a:cubicBezTo>
                    <a:pt x="9300" y="14688"/>
                    <a:pt x="8987" y="14439"/>
                    <a:pt x="8725" y="14127"/>
                  </a:cubicBezTo>
                  <a:cubicBezTo>
                    <a:pt x="8463" y="13813"/>
                    <a:pt x="8257" y="13440"/>
                    <a:pt x="8103" y="13008"/>
                  </a:cubicBezTo>
                  <a:cubicBezTo>
                    <a:pt x="7951" y="12579"/>
                    <a:pt x="7875" y="12118"/>
                    <a:pt x="7875" y="11631"/>
                  </a:cubicBezTo>
                  <a:cubicBezTo>
                    <a:pt x="7875" y="11152"/>
                    <a:pt x="7951" y="10700"/>
                    <a:pt x="8103" y="10265"/>
                  </a:cubicBezTo>
                  <a:cubicBezTo>
                    <a:pt x="8257" y="9836"/>
                    <a:pt x="8463" y="9460"/>
                    <a:pt x="8725" y="9140"/>
                  </a:cubicBezTo>
                  <a:cubicBezTo>
                    <a:pt x="8987" y="8823"/>
                    <a:pt x="9298" y="8576"/>
                    <a:pt x="9657" y="8394"/>
                  </a:cubicBezTo>
                  <a:cubicBezTo>
                    <a:pt x="10015" y="8218"/>
                    <a:pt x="10399" y="8130"/>
                    <a:pt x="10806" y="8130"/>
                  </a:cubicBezTo>
                  <a:cubicBezTo>
                    <a:pt x="11205" y="8130"/>
                    <a:pt x="11582" y="8218"/>
                    <a:pt x="11942" y="8394"/>
                  </a:cubicBezTo>
                  <a:cubicBezTo>
                    <a:pt x="12301" y="8576"/>
                    <a:pt x="12612" y="8823"/>
                    <a:pt x="12879" y="9140"/>
                  </a:cubicBezTo>
                  <a:cubicBezTo>
                    <a:pt x="13146" y="9460"/>
                    <a:pt x="13352" y="9836"/>
                    <a:pt x="13501" y="10265"/>
                  </a:cubicBezTo>
                  <a:cubicBezTo>
                    <a:pt x="13648" y="10700"/>
                    <a:pt x="13724" y="11152"/>
                    <a:pt x="13724" y="11631"/>
                  </a:cubicBezTo>
                  <a:moveTo>
                    <a:pt x="9692" y="11631"/>
                  </a:moveTo>
                  <a:cubicBezTo>
                    <a:pt x="9692" y="11246"/>
                    <a:pt x="9799" y="10929"/>
                    <a:pt x="10020" y="10682"/>
                  </a:cubicBezTo>
                  <a:cubicBezTo>
                    <a:pt x="10238" y="10432"/>
                    <a:pt x="10500" y="10309"/>
                    <a:pt x="10806" y="10309"/>
                  </a:cubicBezTo>
                  <a:lnTo>
                    <a:pt x="10806" y="10280"/>
                  </a:lnTo>
                  <a:cubicBezTo>
                    <a:pt x="10945" y="10280"/>
                    <a:pt x="11065" y="10224"/>
                    <a:pt x="11163" y="10109"/>
                  </a:cubicBezTo>
                  <a:cubicBezTo>
                    <a:pt x="11261" y="9998"/>
                    <a:pt x="11310" y="9862"/>
                    <a:pt x="11310" y="9704"/>
                  </a:cubicBezTo>
                  <a:cubicBezTo>
                    <a:pt x="11310" y="9533"/>
                    <a:pt x="11261" y="9392"/>
                    <a:pt x="11163" y="9275"/>
                  </a:cubicBezTo>
                  <a:cubicBezTo>
                    <a:pt x="11065" y="9157"/>
                    <a:pt x="10945" y="9096"/>
                    <a:pt x="10806" y="9096"/>
                  </a:cubicBezTo>
                  <a:cubicBezTo>
                    <a:pt x="10228" y="9096"/>
                    <a:pt x="9733" y="9348"/>
                    <a:pt x="9322" y="9848"/>
                  </a:cubicBezTo>
                  <a:cubicBezTo>
                    <a:pt x="8913" y="10350"/>
                    <a:pt x="8708" y="10943"/>
                    <a:pt x="8708" y="11628"/>
                  </a:cubicBezTo>
                  <a:cubicBezTo>
                    <a:pt x="8708" y="11777"/>
                    <a:pt x="8757" y="11913"/>
                    <a:pt x="8854" y="12027"/>
                  </a:cubicBezTo>
                  <a:cubicBezTo>
                    <a:pt x="8952" y="12147"/>
                    <a:pt x="9063" y="12206"/>
                    <a:pt x="9187" y="12206"/>
                  </a:cubicBezTo>
                  <a:cubicBezTo>
                    <a:pt x="9329" y="12206"/>
                    <a:pt x="9447" y="12148"/>
                    <a:pt x="9545" y="12027"/>
                  </a:cubicBezTo>
                  <a:cubicBezTo>
                    <a:pt x="9643" y="11916"/>
                    <a:pt x="9692" y="11780"/>
                    <a:pt x="9692" y="11631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defTabSz="170815">
                <a:defRPr/>
              </a:pPr>
              <a:endParaRPr lang="es-ES" sz="1100" kern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charset="-122"/>
                <a:cs typeface="Gill Sans" pitchFamily="2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 82"/>
            <p:cNvSpPr>
              <a:spLocks noChangeArrowheads="1"/>
            </p:cNvSpPr>
            <p:nvPr/>
          </p:nvSpPr>
          <p:spPr bwMode="auto">
            <a:xfrm>
              <a:off x="4660" y="2344"/>
              <a:ext cx="937" cy="626"/>
            </a:xfrm>
            <a:custGeom>
              <a:avLst/>
              <a:gdLst>
                <a:gd name="T0" fmla="*/ 443 w 497"/>
                <a:gd name="T1" fmla="*/ 0 h 444"/>
                <a:gd name="T2" fmla="*/ 443 w 497"/>
                <a:gd name="T3" fmla="*/ 0 h 444"/>
                <a:gd name="T4" fmla="*/ 53 w 497"/>
                <a:gd name="T5" fmla="*/ 0 h 444"/>
                <a:gd name="T6" fmla="*/ 0 w 497"/>
                <a:gd name="T7" fmla="*/ 53 h 444"/>
                <a:gd name="T8" fmla="*/ 0 w 497"/>
                <a:gd name="T9" fmla="*/ 345 h 444"/>
                <a:gd name="T10" fmla="*/ 53 w 497"/>
                <a:gd name="T11" fmla="*/ 399 h 444"/>
                <a:gd name="T12" fmla="*/ 151 w 497"/>
                <a:gd name="T13" fmla="*/ 399 h 444"/>
                <a:gd name="T14" fmla="*/ 151 w 497"/>
                <a:gd name="T15" fmla="*/ 345 h 444"/>
                <a:gd name="T16" fmla="*/ 44 w 497"/>
                <a:gd name="T17" fmla="*/ 345 h 444"/>
                <a:gd name="T18" fmla="*/ 44 w 497"/>
                <a:gd name="T19" fmla="*/ 124 h 444"/>
                <a:gd name="T20" fmla="*/ 443 w 497"/>
                <a:gd name="T21" fmla="*/ 124 h 444"/>
                <a:gd name="T22" fmla="*/ 443 w 497"/>
                <a:gd name="T23" fmla="*/ 345 h 444"/>
                <a:gd name="T24" fmla="*/ 345 w 497"/>
                <a:gd name="T25" fmla="*/ 345 h 444"/>
                <a:gd name="T26" fmla="*/ 345 w 497"/>
                <a:gd name="T27" fmla="*/ 399 h 444"/>
                <a:gd name="T28" fmla="*/ 443 w 497"/>
                <a:gd name="T29" fmla="*/ 399 h 444"/>
                <a:gd name="T30" fmla="*/ 496 w 497"/>
                <a:gd name="T31" fmla="*/ 345 h 444"/>
                <a:gd name="T32" fmla="*/ 496 w 497"/>
                <a:gd name="T33" fmla="*/ 53 h 444"/>
                <a:gd name="T34" fmla="*/ 443 w 497"/>
                <a:gd name="T35" fmla="*/ 0 h 444"/>
                <a:gd name="T36" fmla="*/ 62 w 497"/>
                <a:gd name="T37" fmla="*/ 80 h 444"/>
                <a:gd name="T38" fmla="*/ 62 w 497"/>
                <a:gd name="T39" fmla="*/ 80 h 444"/>
                <a:gd name="T40" fmla="*/ 44 w 497"/>
                <a:gd name="T41" fmla="*/ 62 h 444"/>
                <a:gd name="T42" fmla="*/ 62 w 497"/>
                <a:gd name="T43" fmla="*/ 45 h 444"/>
                <a:gd name="T44" fmla="*/ 79 w 497"/>
                <a:gd name="T45" fmla="*/ 62 h 444"/>
                <a:gd name="T46" fmla="*/ 62 w 497"/>
                <a:gd name="T47" fmla="*/ 80 h 444"/>
                <a:gd name="T48" fmla="*/ 116 w 497"/>
                <a:gd name="T49" fmla="*/ 80 h 444"/>
                <a:gd name="T50" fmla="*/ 116 w 497"/>
                <a:gd name="T51" fmla="*/ 80 h 444"/>
                <a:gd name="T52" fmla="*/ 97 w 497"/>
                <a:gd name="T53" fmla="*/ 62 h 444"/>
                <a:gd name="T54" fmla="*/ 116 w 497"/>
                <a:gd name="T55" fmla="*/ 45 h 444"/>
                <a:gd name="T56" fmla="*/ 132 w 497"/>
                <a:gd name="T57" fmla="*/ 62 h 444"/>
                <a:gd name="T58" fmla="*/ 116 w 497"/>
                <a:gd name="T59" fmla="*/ 80 h 444"/>
                <a:gd name="T60" fmla="*/ 443 w 497"/>
                <a:gd name="T61" fmla="*/ 80 h 444"/>
                <a:gd name="T62" fmla="*/ 443 w 497"/>
                <a:gd name="T63" fmla="*/ 80 h 444"/>
                <a:gd name="T64" fmla="*/ 151 w 497"/>
                <a:gd name="T65" fmla="*/ 80 h 444"/>
                <a:gd name="T66" fmla="*/ 151 w 497"/>
                <a:gd name="T67" fmla="*/ 53 h 444"/>
                <a:gd name="T68" fmla="*/ 443 w 497"/>
                <a:gd name="T69" fmla="*/ 53 h 444"/>
                <a:gd name="T70" fmla="*/ 443 w 497"/>
                <a:gd name="T71" fmla="*/ 80 h 444"/>
                <a:gd name="T72" fmla="*/ 248 w 497"/>
                <a:gd name="T73" fmla="*/ 177 h 444"/>
                <a:gd name="T74" fmla="*/ 248 w 497"/>
                <a:gd name="T75" fmla="*/ 177 h 444"/>
                <a:gd name="T76" fmla="*/ 124 w 497"/>
                <a:gd name="T77" fmla="*/ 301 h 444"/>
                <a:gd name="T78" fmla="*/ 204 w 497"/>
                <a:gd name="T79" fmla="*/ 301 h 444"/>
                <a:gd name="T80" fmla="*/ 204 w 497"/>
                <a:gd name="T81" fmla="*/ 443 h 444"/>
                <a:gd name="T82" fmla="*/ 292 w 497"/>
                <a:gd name="T83" fmla="*/ 443 h 444"/>
                <a:gd name="T84" fmla="*/ 292 w 497"/>
                <a:gd name="T85" fmla="*/ 301 h 444"/>
                <a:gd name="T86" fmla="*/ 363 w 497"/>
                <a:gd name="T87" fmla="*/ 301 h 444"/>
                <a:gd name="T88" fmla="*/ 248 w 497"/>
                <a:gd name="T89" fmla="*/ 177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444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26"/>
                    <a:pt x="0" y="53"/>
                  </a:cubicBezTo>
                  <a:cubicBezTo>
                    <a:pt x="0" y="345"/>
                    <a:pt x="0" y="345"/>
                    <a:pt x="0" y="345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151" y="399"/>
                    <a:pt x="151" y="399"/>
                    <a:pt x="151" y="399"/>
                  </a:cubicBezTo>
                  <a:cubicBezTo>
                    <a:pt x="151" y="345"/>
                    <a:pt x="151" y="345"/>
                    <a:pt x="151" y="345"/>
                  </a:cubicBezTo>
                  <a:cubicBezTo>
                    <a:pt x="44" y="345"/>
                    <a:pt x="44" y="345"/>
                    <a:pt x="44" y="345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3" y="124"/>
                    <a:pt x="443" y="124"/>
                    <a:pt x="443" y="124"/>
                  </a:cubicBezTo>
                  <a:cubicBezTo>
                    <a:pt x="443" y="345"/>
                    <a:pt x="443" y="345"/>
                    <a:pt x="443" y="345"/>
                  </a:cubicBezTo>
                  <a:cubicBezTo>
                    <a:pt x="345" y="345"/>
                    <a:pt x="345" y="345"/>
                    <a:pt x="345" y="345"/>
                  </a:cubicBezTo>
                  <a:cubicBezTo>
                    <a:pt x="345" y="399"/>
                    <a:pt x="345" y="399"/>
                    <a:pt x="345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5"/>
                  </a:cubicBezTo>
                  <a:cubicBezTo>
                    <a:pt x="496" y="53"/>
                    <a:pt x="496" y="53"/>
                    <a:pt x="496" y="53"/>
                  </a:cubicBezTo>
                  <a:cubicBezTo>
                    <a:pt x="496" y="26"/>
                    <a:pt x="470" y="0"/>
                    <a:pt x="443" y="0"/>
                  </a:cubicBezTo>
                  <a:close/>
                  <a:moveTo>
                    <a:pt x="62" y="80"/>
                  </a:moveTo>
                  <a:lnTo>
                    <a:pt x="62" y="80"/>
                  </a:lnTo>
                  <a:cubicBezTo>
                    <a:pt x="53" y="80"/>
                    <a:pt x="44" y="71"/>
                    <a:pt x="44" y="62"/>
                  </a:cubicBezTo>
                  <a:cubicBezTo>
                    <a:pt x="44" y="53"/>
                    <a:pt x="53" y="45"/>
                    <a:pt x="62" y="45"/>
                  </a:cubicBezTo>
                  <a:cubicBezTo>
                    <a:pt x="71" y="45"/>
                    <a:pt x="79" y="53"/>
                    <a:pt x="79" y="62"/>
                  </a:cubicBezTo>
                  <a:cubicBezTo>
                    <a:pt x="79" y="71"/>
                    <a:pt x="71" y="80"/>
                    <a:pt x="62" y="80"/>
                  </a:cubicBezTo>
                  <a:close/>
                  <a:moveTo>
                    <a:pt x="116" y="80"/>
                  </a:moveTo>
                  <a:lnTo>
                    <a:pt x="116" y="80"/>
                  </a:lnTo>
                  <a:cubicBezTo>
                    <a:pt x="107" y="80"/>
                    <a:pt x="97" y="71"/>
                    <a:pt x="97" y="62"/>
                  </a:cubicBezTo>
                  <a:cubicBezTo>
                    <a:pt x="97" y="53"/>
                    <a:pt x="107" y="45"/>
                    <a:pt x="116" y="45"/>
                  </a:cubicBezTo>
                  <a:cubicBezTo>
                    <a:pt x="124" y="45"/>
                    <a:pt x="132" y="53"/>
                    <a:pt x="132" y="62"/>
                  </a:cubicBezTo>
                  <a:cubicBezTo>
                    <a:pt x="132" y="71"/>
                    <a:pt x="124" y="80"/>
                    <a:pt x="116" y="80"/>
                  </a:cubicBezTo>
                  <a:close/>
                  <a:moveTo>
                    <a:pt x="443" y="80"/>
                  </a:moveTo>
                  <a:lnTo>
                    <a:pt x="443" y="80"/>
                  </a:lnTo>
                  <a:cubicBezTo>
                    <a:pt x="151" y="80"/>
                    <a:pt x="151" y="80"/>
                    <a:pt x="151" y="80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443" y="53"/>
                    <a:pt x="443" y="53"/>
                    <a:pt x="443" y="53"/>
                  </a:cubicBezTo>
                  <a:lnTo>
                    <a:pt x="443" y="80"/>
                  </a:lnTo>
                  <a:close/>
                  <a:moveTo>
                    <a:pt x="248" y="177"/>
                  </a:moveTo>
                  <a:lnTo>
                    <a:pt x="248" y="177"/>
                  </a:lnTo>
                  <a:cubicBezTo>
                    <a:pt x="124" y="301"/>
                    <a:pt x="124" y="301"/>
                    <a:pt x="124" y="301"/>
                  </a:cubicBezTo>
                  <a:cubicBezTo>
                    <a:pt x="204" y="301"/>
                    <a:pt x="204" y="301"/>
                    <a:pt x="204" y="301"/>
                  </a:cubicBezTo>
                  <a:cubicBezTo>
                    <a:pt x="204" y="443"/>
                    <a:pt x="204" y="443"/>
                    <a:pt x="204" y="443"/>
                  </a:cubicBezTo>
                  <a:cubicBezTo>
                    <a:pt x="292" y="443"/>
                    <a:pt x="292" y="443"/>
                    <a:pt x="292" y="443"/>
                  </a:cubicBezTo>
                  <a:cubicBezTo>
                    <a:pt x="292" y="301"/>
                    <a:pt x="292" y="301"/>
                    <a:pt x="292" y="301"/>
                  </a:cubicBezTo>
                  <a:cubicBezTo>
                    <a:pt x="363" y="301"/>
                    <a:pt x="363" y="301"/>
                    <a:pt x="363" y="301"/>
                  </a:cubicBezTo>
                  <a:lnTo>
                    <a:pt x="248" y="177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defTabSz="608965">
                <a:defRPr/>
              </a:pPr>
              <a:endParaRPr lang="en-US" sz="2400" ker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Freeform 102"/>
            <p:cNvSpPr>
              <a:spLocks noChangeArrowheads="1"/>
            </p:cNvSpPr>
            <p:nvPr/>
          </p:nvSpPr>
          <p:spPr bwMode="auto">
            <a:xfrm>
              <a:off x="12790" y="2423"/>
              <a:ext cx="981" cy="611"/>
            </a:xfrm>
            <a:custGeom>
              <a:avLst/>
              <a:gdLst>
                <a:gd name="T0" fmla="*/ 80 w 498"/>
                <a:gd name="T1" fmla="*/ 151 h 445"/>
                <a:gd name="T2" fmla="*/ 80 w 498"/>
                <a:gd name="T3" fmla="*/ 151 h 445"/>
                <a:gd name="T4" fmla="*/ 142 w 498"/>
                <a:gd name="T5" fmla="*/ 169 h 445"/>
                <a:gd name="T6" fmla="*/ 151 w 498"/>
                <a:gd name="T7" fmla="*/ 169 h 445"/>
                <a:gd name="T8" fmla="*/ 195 w 498"/>
                <a:gd name="T9" fmla="*/ 134 h 445"/>
                <a:gd name="T10" fmla="*/ 195 w 498"/>
                <a:gd name="T11" fmla="*/ 125 h 445"/>
                <a:gd name="T12" fmla="*/ 178 w 498"/>
                <a:gd name="T13" fmla="*/ 107 h 445"/>
                <a:gd name="T14" fmla="*/ 275 w 498"/>
                <a:gd name="T15" fmla="*/ 10 h 445"/>
                <a:gd name="T16" fmla="*/ 195 w 498"/>
                <a:gd name="T17" fmla="*/ 0 h 445"/>
                <a:gd name="T18" fmla="*/ 107 w 498"/>
                <a:gd name="T19" fmla="*/ 54 h 445"/>
                <a:gd name="T20" fmla="*/ 72 w 498"/>
                <a:gd name="T21" fmla="*/ 81 h 445"/>
                <a:gd name="T22" fmla="*/ 53 w 498"/>
                <a:gd name="T23" fmla="*/ 116 h 445"/>
                <a:gd name="T24" fmla="*/ 18 w 498"/>
                <a:gd name="T25" fmla="*/ 125 h 445"/>
                <a:gd name="T26" fmla="*/ 0 w 498"/>
                <a:gd name="T27" fmla="*/ 143 h 445"/>
                <a:gd name="T28" fmla="*/ 0 w 498"/>
                <a:gd name="T29" fmla="*/ 151 h 445"/>
                <a:gd name="T30" fmla="*/ 36 w 498"/>
                <a:gd name="T31" fmla="*/ 187 h 445"/>
                <a:gd name="T32" fmla="*/ 53 w 498"/>
                <a:gd name="T33" fmla="*/ 196 h 445"/>
                <a:gd name="T34" fmla="*/ 72 w 498"/>
                <a:gd name="T35" fmla="*/ 178 h 445"/>
                <a:gd name="T36" fmla="*/ 80 w 498"/>
                <a:gd name="T37" fmla="*/ 151 h 445"/>
                <a:gd name="T38" fmla="*/ 222 w 498"/>
                <a:gd name="T39" fmla="*/ 160 h 445"/>
                <a:gd name="T40" fmla="*/ 222 w 498"/>
                <a:gd name="T41" fmla="*/ 160 h 445"/>
                <a:gd name="T42" fmla="*/ 213 w 498"/>
                <a:gd name="T43" fmla="*/ 160 h 445"/>
                <a:gd name="T44" fmla="*/ 178 w 498"/>
                <a:gd name="T45" fmla="*/ 187 h 445"/>
                <a:gd name="T46" fmla="*/ 169 w 498"/>
                <a:gd name="T47" fmla="*/ 204 h 445"/>
                <a:gd name="T48" fmla="*/ 381 w 498"/>
                <a:gd name="T49" fmla="*/ 435 h 445"/>
                <a:gd name="T50" fmla="*/ 399 w 498"/>
                <a:gd name="T51" fmla="*/ 435 h 445"/>
                <a:gd name="T52" fmla="*/ 426 w 498"/>
                <a:gd name="T53" fmla="*/ 417 h 445"/>
                <a:gd name="T54" fmla="*/ 426 w 498"/>
                <a:gd name="T55" fmla="*/ 400 h 445"/>
                <a:gd name="T56" fmla="*/ 222 w 498"/>
                <a:gd name="T57" fmla="*/ 160 h 445"/>
                <a:gd name="T58" fmla="*/ 497 w 498"/>
                <a:gd name="T59" fmla="*/ 63 h 445"/>
                <a:gd name="T60" fmla="*/ 497 w 498"/>
                <a:gd name="T61" fmla="*/ 63 h 445"/>
                <a:gd name="T62" fmla="*/ 479 w 498"/>
                <a:gd name="T63" fmla="*/ 54 h 445"/>
                <a:gd name="T64" fmla="*/ 461 w 498"/>
                <a:gd name="T65" fmla="*/ 89 h 445"/>
                <a:gd name="T66" fmla="*/ 408 w 498"/>
                <a:gd name="T67" fmla="*/ 107 h 445"/>
                <a:gd name="T68" fmla="*/ 399 w 498"/>
                <a:gd name="T69" fmla="*/ 63 h 445"/>
                <a:gd name="T70" fmla="*/ 417 w 498"/>
                <a:gd name="T71" fmla="*/ 19 h 445"/>
                <a:gd name="T72" fmla="*/ 408 w 498"/>
                <a:gd name="T73" fmla="*/ 10 h 445"/>
                <a:gd name="T74" fmla="*/ 337 w 498"/>
                <a:gd name="T75" fmla="*/ 72 h 445"/>
                <a:gd name="T76" fmla="*/ 319 w 498"/>
                <a:gd name="T77" fmla="*/ 151 h 445"/>
                <a:gd name="T78" fmla="*/ 284 w 498"/>
                <a:gd name="T79" fmla="*/ 187 h 445"/>
                <a:gd name="T80" fmla="*/ 319 w 498"/>
                <a:gd name="T81" fmla="*/ 231 h 445"/>
                <a:gd name="T82" fmla="*/ 364 w 498"/>
                <a:gd name="T83" fmla="*/ 187 h 445"/>
                <a:gd name="T84" fmla="*/ 408 w 498"/>
                <a:gd name="T85" fmla="*/ 178 h 445"/>
                <a:gd name="T86" fmla="*/ 488 w 498"/>
                <a:gd name="T87" fmla="*/ 143 h 445"/>
                <a:gd name="T88" fmla="*/ 497 w 498"/>
                <a:gd name="T89" fmla="*/ 63 h 445"/>
                <a:gd name="T90" fmla="*/ 72 w 498"/>
                <a:gd name="T91" fmla="*/ 400 h 445"/>
                <a:gd name="T92" fmla="*/ 72 w 498"/>
                <a:gd name="T93" fmla="*/ 400 h 445"/>
                <a:gd name="T94" fmla="*/ 72 w 498"/>
                <a:gd name="T95" fmla="*/ 417 h 445"/>
                <a:gd name="T96" fmla="*/ 89 w 498"/>
                <a:gd name="T97" fmla="*/ 444 h 445"/>
                <a:gd name="T98" fmla="*/ 107 w 498"/>
                <a:gd name="T99" fmla="*/ 435 h 445"/>
                <a:gd name="T100" fmla="*/ 231 w 498"/>
                <a:gd name="T101" fmla="*/ 320 h 445"/>
                <a:gd name="T102" fmla="*/ 195 w 498"/>
                <a:gd name="T103" fmla="*/ 275 h 445"/>
                <a:gd name="T104" fmla="*/ 72 w 498"/>
                <a:gd name="T105" fmla="*/ 40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8" h="445">
                  <a:moveTo>
                    <a:pt x="80" y="151"/>
                  </a:moveTo>
                  <a:lnTo>
                    <a:pt x="80" y="151"/>
                  </a:lnTo>
                  <a:cubicBezTo>
                    <a:pt x="97" y="134"/>
                    <a:pt x="116" y="143"/>
                    <a:pt x="142" y="169"/>
                  </a:cubicBezTo>
                  <a:cubicBezTo>
                    <a:pt x="151" y="178"/>
                    <a:pt x="151" y="169"/>
                    <a:pt x="151" y="169"/>
                  </a:cubicBezTo>
                  <a:cubicBezTo>
                    <a:pt x="160" y="169"/>
                    <a:pt x="186" y="134"/>
                    <a:pt x="195" y="134"/>
                  </a:cubicBezTo>
                  <a:cubicBezTo>
                    <a:pt x="195" y="134"/>
                    <a:pt x="195" y="134"/>
                    <a:pt x="195" y="125"/>
                  </a:cubicBezTo>
                  <a:cubicBezTo>
                    <a:pt x="186" y="125"/>
                    <a:pt x="178" y="116"/>
                    <a:pt x="178" y="107"/>
                  </a:cubicBezTo>
                  <a:cubicBezTo>
                    <a:pt x="133" y="45"/>
                    <a:pt x="301" y="10"/>
                    <a:pt x="275" y="10"/>
                  </a:cubicBezTo>
                  <a:cubicBezTo>
                    <a:pt x="257" y="0"/>
                    <a:pt x="204" y="0"/>
                    <a:pt x="195" y="0"/>
                  </a:cubicBezTo>
                  <a:cubicBezTo>
                    <a:pt x="169" y="10"/>
                    <a:pt x="125" y="36"/>
                    <a:pt x="107" y="54"/>
                  </a:cubicBezTo>
                  <a:cubicBezTo>
                    <a:pt x="80" y="72"/>
                    <a:pt x="72" y="81"/>
                    <a:pt x="72" y="81"/>
                  </a:cubicBezTo>
                  <a:cubicBezTo>
                    <a:pt x="62" y="89"/>
                    <a:pt x="72" y="107"/>
                    <a:pt x="53" y="116"/>
                  </a:cubicBezTo>
                  <a:cubicBezTo>
                    <a:pt x="36" y="125"/>
                    <a:pt x="27" y="116"/>
                    <a:pt x="18" y="125"/>
                  </a:cubicBezTo>
                  <a:cubicBezTo>
                    <a:pt x="18" y="134"/>
                    <a:pt x="9" y="134"/>
                    <a:pt x="0" y="143"/>
                  </a:cubicBezTo>
                  <a:lnTo>
                    <a:pt x="0" y="151"/>
                  </a:lnTo>
                  <a:lnTo>
                    <a:pt x="36" y="187"/>
                  </a:lnTo>
                  <a:cubicBezTo>
                    <a:pt x="36" y="196"/>
                    <a:pt x="44" y="196"/>
                    <a:pt x="53" y="196"/>
                  </a:cubicBezTo>
                  <a:cubicBezTo>
                    <a:pt x="53" y="187"/>
                    <a:pt x="62" y="178"/>
                    <a:pt x="72" y="178"/>
                  </a:cubicBezTo>
                  <a:cubicBezTo>
                    <a:pt x="72" y="178"/>
                    <a:pt x="72" y="151"/>
                    <a:pt x="80" y="151"/>
                  </a:cubicBezTo>
                  <a:close/>
                  <a:moveTo>
                    <a:pt x="222" y="160"/>
                  </a:moveTo>
                  <a:lnTo>
                    <a:pt x="222" y="160"/>
                  </a:lnTo>
                  <a:cubicBezTo>
                    <a:pt x="213" y="160"/>
                    <a:pt x="213" y="160"/>
                    <a:pt x="213" y="160"/>
                  </a:cubicBezTo>
                  <a:cubicBezTo>
                    <a:pt x="178" y="187"/>
                    <a:pt x="178" y="187"/>
                    <a:pt x="178" y="187"/>
                  </a:cubicBezTo>
                  <a:cubicBezTo>
                    <a:pt x="169" y="196"/>
                    <a:pt x="169" y="196"/>
                    <a:pt x="169" y="204"/>
                  </a:cubicBezTo>
                  <a:cubicBezTo>
                    <a:pt x="381" y="435"/>
                    <a:pt x="381" y="435"/>
                    <a:pt x="381" y="435"/>
                  </a:cubicBezTo>
                  <a:cubicBezTo>
                    <a:pt x="381" y="444"/>
                    <a:pt x="391" y="444"/>
                    <a:pt x="399" y="435"/>
                  </a:cubicBezTo>
                  <a:cubicBezTo>
                    <a:pt x="426" y="417"/>
                    <a:pt x="426" y="417"/>
                    <a:pt x="426" y="417"/>
                  </a:cubicBezTo>
                  <a:cubicBezTo>
                    <a:pt x="426" y="408"/>
                    <a:pt x="426" y="400"/>
                    <a:pt x="426" y="400"/>
                  </a:cubicBezTo>
                  <a:lnTo>
                    <a:pt x="222" y="160"/>
                  </a:lnTo>
                  <a:close/>
                  <a:moveTo>
                    <a:pt x="497" y="63"/>
                  </a:moveTo>
                  <a:lnTo>
                    <a:pt x="497" y="63"/>
                  </a:lnTo>
                  <a:cubicBezTo>
                    <a:pt x="488" y="45"/>
                    <a:pt x="488" y="54"/>
                    <a:pt x="479" y="54"/>
                  </a:cubicBezTo>
                  <a:cubicBezTo>
                    <a:pt x="479" y="63"/>
                    <a:pt x="461" y="81"/>
                    <a:pt x="461" y="89"/>
                  </a:cubicBezTo>
                  <a:cubicBezTo>
                    <a:pt x="452" y="107"/>
                    <a:pt x="435" y="125"/>
                    <a:pt x="408" y="107"/>
                  </a:cubicBezTo>
                  <a:cubicBezTo>
                    <a:pt x="381" y="81"/>
                    <a:pt x="391" y="72"/>
                    <a:pt x="399" y="63"/>
                  </a:cubicBezTo>
                  <a:cubicBezTo>
                    <a:pt x="399" y="54"/>
                    <a:pt x="417" y="28"/>
                    <a:pt x="417" y="19"/>
                  </a:cubicBezTo>
                  <a:cubicBezTo>
                    <a:pt x="426" y="19"/>
                    <a:pt x="417" y="10"/>
                    <a:pt x="408" y="10"/>
                  </a:cubicBezTo>
                  <a:cubicBezTo>
                    <a:pt x="399" y="19"/>
                    <a:pt x="346" y="36"/>
                    <a:pt x="337" y="72"/>
                  </a:cubicBezTo>
                  <a:cubicBezTo>
                    <a:pt x="328" y="98"/>
                    <a:pt x="346" y="125"/>
                    <a:pt x="319" y="151"/>
                  </a:cubicBezTo>
                  <a:cubicBezTo>
                    <a:pt x="284" y="187"/>
                    <a:pt x="284" y="187"/>
                    <a:pt x="284" y="187"/>
                  </a:cubicBezTo>
                  <a:cubicBezTo>
                    <a:pt x="319" y="231"/>
                    <a:pt x="319" y="231"/>
                    <a:pt x="319" y="231"/>
                  </a:cubicBezTo>
                  <a:cubicBezTo>
                    <a:pt x="364" y="187"/>
                    <a:pt x="364" y="187"/>
                    <a:pt x="364" y="187"/>
                  </a:cubicBezTo>
                  <a:cubicBezTo>
                    <a:pt x="372" y="178"/>
                    <a:pt x="391" y="169"/>
                    <a:pt x="408" y="178"/>
                  </a:cubicBezTo>
                  <a:cubicBezTo>
                    <a:pt x="452" y="187"/>
                    <a:pt x="470" y="169"/>
                    <a:pt x="488" y="143"/>
                  </a:cubicBezTo>
                  <a:cubicBezTo>
                    <a:pt x="497" y="116"/>
                    <a:pt x="497" y="72"/>
                    <a:pt x="497" y="63"/>
                  </a:cubicBezTo>
                  <a:close/>
                  <a:moveTo>
                    <a:pt x="72" y="400"/>
                  </a:moveTo>
                  <a:lnTo>
                    <a:pt x="72" y="400"/>
                  </a:lnTo>
                  <a:cubicBezTo>
                    <a:pt x="62" y="408"/>
                    <a:pt x="62" y="417"/>
                    <a:pt x="72" y="417"/>
                  </a:cubicBezTo>
                  <a:cubicBezTo>
                    <a:pt x="89" y="444"/>
                    <a:pt x="89" y="444"/>
                    <a:pt x="89" y="444"/>
                  </a:cubicBezTo>
                  <a:cubicBezTo>
                    <a:pt x="97" y="444"/>
                    <a:pt x="107" y="444"/>
                    <a:pt x="107" y="435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195" y="275"/>
                    <a:pt x="195" y="275"/>
                    <a:pt x="195" y="275"/>
                  </a:cubicBezTo>
                  <a:lnTo>
                    <a:pt x="72" y="4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608965">
                <a:defRPr/>
              </a:pPr>
              <a:endParaRPr lang="en-US" sz="2400" kern="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375618" y="2317609"/>
            <a:ext cx="3528817" cy="3284324"/>
            <a:chOff x="401" y="5595"/>
            <a:chExt cx="5680" cy="4927"/>
          </a:xfrm>
        </p:grpSpPr>
        <p:grpSp>
          <p:nvGrpSpPr>
            <p:cNvPr id="23" name="组合 22"/>
            <p:cNvGrpSpPr/>
            <p:nvPr/>
          </p:nvGrpSpPr>
          <p:grpSpPr>
            <a:xfrm>
              <a:off x="401" y="5595"/>
              <a:ext cx="5680" cy="4927"/>
              <a:chOff x="1093" y="5848"/>
              <a:chExt cx="5680" cy="4927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093" y="6481"/>
                <a:ext cx="5680" cy="42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依据动态规划的思想，我们可令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F(</a:t>
                </a:r>
                <a:r>
                  <a:rPr lang="en-US" altLang="zh-CN" b="0" i="0" dirty="0" err="1">
                    <a:solidFill>
                      <a:schemeClr val="bg1"/>
                    </a:solidFill>
                    <a:effectLst/>
                    <a:latin typeface="-apple-system"/>
                  </a:rPr>
                  <a:t>i,j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)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为到第</a:t>
                </a:r>
                <a:r>
                  <a:rPr lang="en-US" altLang="zh-CN" b="0" i="0" dirty="0" err="1">
                    <a:solidFill>
                      <a:schemeClr val="bg1"/>
                    </a:solidFill>
                    <a:effectLst/>
                    <a:latin typeface="-apple-system"/>
                  </a:rPr>
                  <a:t>i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行和第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j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列单元格（</a:t>
                </a:r>
                <a:r>
                  <a:rPr lang="en-US" altLang="zh-CN" b="0" i="0" dirty="0" err="1">
                    <a:solidFill>
                      <a:schemeClr val="bg1"/>
                    </a:solidFill>
                    <a:effectLst/>
                    <a:latin typeface="-apple-system"/>
                  </a:rPr>
                  <a:t>i,j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）得到的最大硬币数目，单元格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(</a:t>
                </a:r>
                <a:r>
                  <a:rPr lang="en-US" altLang="zh-CN" b="0" i="0" dirty="0" err="1">
                    <a:solidFill>
                      <a:schemeClr val="bg1"/>
                    </a:solidFill>
                    <a:effectLst/>
                    <a:latin typeface="-apple-system"/>
                  </a:rPr>
                  <a:t>i,j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)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可由上方相邻单元格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(i-1,j)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和左边相邻单元格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(i,j-1)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到达，而单元格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(i-1,j)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中最大硬币数目为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F(i-1,j)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，单元格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(i,j-1)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中最大硬币数目为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F(i,j-1)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。在整个木板中，第一行和第一列前是没有单元格的，我们就令它的值为零。</a:t>
                </a:r>
                <a:endParaRPr lang="en-US" altLang="zh-CN" dirty="0">
                  <a:solidFill>
                    <a:schemeClr val="bg1"/>
                  </a:solidFill>
                  <a:latin typeface="+mn-lt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2926" y="5848"/>
                <a:ext cx="2014" cy="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+mn-lt"/>
                    <a:ea typeface="微软雅黑" panose="020B0503020204020204" charset="-122"/>
                    <a:cs typeface="Arial" panose="020B0604020202020204" pitchFamily="34" charset="0"/>
                  </a:rPr>
                  <a:t>解题思路</a:t>
                </a:r>
                <a:endParaRPr lang="en-US" altLang="zh-CN" sz="1400" b="1" dirty="0">
                  <a:solidFill>
                    <a:schemeClr val="bg1">
                      <a:alpha val="92000"/>
                    </a:schemeClr>
                  </a:solidFill>
                  <a:latin typeface="+mn-lt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1" name="直接连接符 30"/>
            <p:cNvCxnSpPr/>
            <p:nvPr/>
          </p:nvCxnSpPr>
          <p:spPr>
            <a:xfrm>
              <a:off x="2202" y="7681"/>
              <a:ext cx="5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矩形 33"/>
          <p:cNvSpPr/>
          <p:nvPr/>
        </p:nvSpPr>
        <p:spPr>
          <a:xfrm>
            <a:off x="2516736" y="2211245"/>
            <a:ext cx="1180366" cy="307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Arial" panose="020B0604020202020204" pitchFamily="34" charset="0"/>
              </a:rPr>
              <a:t>问题描述</a:t>
            </a:r>
            <a:endParaRPr lang="en-US" altLang="zh-CN" sz="1400" b="1" dirty="0">
              <a:solidFill>
                <a:schemeClr val="tx1">
                  <a:alpha val="92000"/>
                </a:schemeClr>
              </a:solidFill>
              <a:latin typeface="+mn-lt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1A03FAB-68D2-4D36-A359-299B66FFCB57}"/>
              </a:ext>
            </a:extLst>
          </p:cNvPr>
          <p:cNvSpPr txBox="1"/>
          <p:nvPr/>
        </p:nvSpPr>
        <p:spPr>
          <a:xfrm>
            <a:off x="1454500" y="2427751"/>
            <a:ext cx="369807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        在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n*m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格木板中放有一些硬币，每格的硬币数目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最多为一个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，在木板左上方的一个机器人需要收集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尽可能多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的硬币并把它们带到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右下方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的单元格。每一步，机器人可以从当前的位置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向右移动一格或向下移动一格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。当机器人遇到一个有硬币的单元格时，就会将这枚硬币收集起来。设计一个算法找出机器人能找到的最大硬币数并给出相应的路径。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41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>
            <a:off x="-1270" y="3364399"/>
            <a:ext cx="6729874" cy="3508206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sp>
        <p:nvSpPr>
          <p:cNvPr id="12" name="淘宝店chenying0907出品 43"/>
          <p:cNvSpPr/>
          <p:nvPr/>
        </p:nvSpPr>
        <p:spPr>
          <a:xfrm>
            <a:off x="1300562" y="2311072"/>
            <a:ext cx="4341496" cy="156966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F(</a:t>
            </a:r>
            <a:r>
              <a:rPr lang="en-US" altLang="zh-CN" sz="2400" b="0" i="0" dirty="0" err="1">
                <a:solidFill>
                  <a:srgbClr val="4D4D4D"/>
                </a:solidFill>
                <a:effectLst/>
                <a:latin typeface="-apple-system"/>
              </a:rPr>
              <a:t>i,j</a:t>
            </a:r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)=max{F(i,j-1),F(i-1,j)}+</a:t>
            </a:r>
            <a:r>
              <a:rPr lang="en-US" altLang="zh-CN" sz="2400" b="0" i="0" dirty="0" err="1">
                <a:solidFill>
                  <a:srgbClr val="4D4D4D"/>
                </a:solidFill>
                <a:effectLst/>
                <a:latin typeface="-apple-system"/>
              </a:rPr>
              <a:t>C</a:t>
            </a:r>
            <a:r>
              <a:rPr lang="en-US" altLang="zh-CN" sz="2400" b="0" i="0" baseline="-25000" dirty="0" err="1">
                <a:solidFill>
                  <a:srgbClr val="4D4D4D"/>
                </a:solidFill>
                <a:effectLst/>
                <a:latin typeface="-apple-system"/>
              </a:rPr>
              <a:t>ij</a:t>
            </a:r>
            <a:r>
              <a:rPr lang="en-US" altLang="zh-CN" sz="2400" b="0" i="0" baseline="-2500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,</a:t>
            </a:r>
            <a:endParaRPr lang="en-US" altLang="zh-CN" sz="2400" dirty="0">
              <a:solidFill>
                <a:srgbClr val="4D4D4D"/>
              </a:solidFill>
              <a:latin typeface="-apple-system"/>
            </a:endParaRPr>
          </a:p>
          <a:p>
            <a:pPr algn="r"/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1&lt;=</a:t>
            </a:r>
            <a:r>
              <a:rPr lang="en-US" altLang="zh-CN" sz="2400" b="0" i="0" dirty="0" err="1">
                <a:solidFill>
                  <a:srgbClr val="4D4D4D"/>
                </a:solidFill>
                <a:effectLst/>
                <a:latin typeface="-apple-system"/>
              </a:rPr>
              <a:t>i</a:t>
            </a:r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&lt;=n,1&lt;=j&lt;=m</a:t>
            </a:r>
          </a:p>
          <a:p>
            <a:br>
              <a:rPr lang="en-US" altLang="zh-CN" sz="2400" dirty="0"/>
            </a:br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F(0,j)=0,1&lt;=j&lt;=m F(i,0) ,1&lt;=</a:t>
            </a:r>
            <a:r>
              <a:rPr lang="en-US" altLang="zh-CN" sz="2400" b="0" i="0" dirty="0" err="1">
                <a:solidFill>
                  <a:srgbClr val="4D4D4D"/>
                </a:solidFill>
                <a:effectLst/>
                <a:latin typeface="-apple-system"/>
              </a:rPr>
              <a:t>i</a:t>
            </a:r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&lt;=n</a:t>
            </a:r>
            <a:endParaRPr lang="zh-CN" altLang="en-US" sz="2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508131C-6B5E-4C4D-82DC-41A3A2DCE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121" y="1828894"/>
            <a:ext cx="5114459" cy="457511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A616E5A2-DFDA-49B2-BCAF-7C3E4C59DF8A}"/>
              </a:ext>
            </a:extLst>
          </p:cNvPr>
          <p:cNvSpPr txBox="1"/>
          <p:nvPr/>
        </p:nvSpPr>
        <p:spPr>
          <a:xfrm>
            <a:off x="6573762" y="1621497"/>
            <a:ext cx="2838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4D4D4D"/>
                </a:solidFill>
                <a:effectLst/>
                <a:latin typeface="-apple-system"/>
              </a:rPr>
              <a:t>如果硬币分布情况如图：</a:t>
            </a:r>
            <a:endParaRPr lang="zh-CN" altLang="en-US" sz="20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3ED153A-8AF9-457E-983C-C59FB29F6D50}"/>
              </a:ext>
            </a:extLst>
          </p:cNvPr>
          <p:cNvGrpSpPr/>
          <p:nvPr/>
        </p:nvGrpSpPr>
        <p:grpSpPr>
          <a:xfrm>
            <a:off x="3906520" y="555625"/>
            <a:ext cx="4341495" cy="971550"/>
            <a:chOff x="6152" y="875"/>
            <a:chExt cx="6837" cy="1530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E217D2F-AC4B-4125-920B-50EA7A434023}"/>
                </a:ext>
              </a:extLst>
            </p:cNvPr>
            <p:cNvSpPr txBox="1"/>
            <p:nvPr/>
          </p:nvSpPr>
          <p:spPr>
            <a:xfrm>
              <a:off x="6921" y="981"/>
              <a:ext cx="5352" cy="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spc="100" dirty="0">
                  <a:solidFill>
                    <a:schemeClr val="tx1"/>
                  </a:solidFill>
                  <a:uFillTx/>
                  <a:latin typeface="方正细圆简体" panose="02010601030101010101" charset="-122"/>
                  <a:ea typeface="方正细圆简体" panose="02010601030101010101" charset="-122"/>
                </a:rPr>
                <a:t>硬币收集问题</a:t>
              </a:r>
              <a:endParaRPr lang="zh-CN" altLang="en-US" sz="1400" spc="400" dirty="0">
                <a:solidFill>
                  <a:schemeClr val="tx1"/>
                </a:solidFill>
                <a:uFillTx/>
                <a:latin typeface="方正细圆简体" panose="02010601030101010101" charset="-122"/>
                <a:ea typeface="方正细圆简体" panose="02010601030101010101" charset="-122"/>
              </a:endParaRPr>
            </a:p>
          </p:txBody>
        </p:sp>
        <p:sp>
          <p:nvSpPr>
            <p:cNvPr id="26" name="圆角矩形 1">
              <a:extLst>
                <a:ext uri="{FF2B5EF4-FFF2-40B4-BE49-F238E27FC236}">
                  <a16:creationId xmlns:a16="http://schemas.microsoft.com/office/drawing/2014/main" id="{522582E4-8869-4E8E-AD66-2D1026D9BE98}"/>
                </a:ext>
              </a:extLst>
            </p:cNvPr>
            <p:cNvSpPr/>
            <p:nvPr/>
          </p:nvSpPr>
          <p:spPr>
            <a:xfrm>
              <a:off x="6922" y="875"/>
              <a:ext cx="5298" cy="887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F981622-5D7A-4BD2-B3C6-4068481D58FF}"/>
                </a:ext>
              </a:extLst>
            </p:cNvPr>
            <p:cNvSpPr txBox="1"/>
            <p:nvPr/>
          </p:nvSpPr>
          <p:spPr>
            <a:xfrm>
              <a:off x="6152" y="1824"/>
              <a:ext cx="6837" cy="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ct val="120000"/>
                </a:lnSpc>
                <a:buFont typeface="Arial" panose="020B0604020202020204" pitchFamily="34" charset="0"/>
              </a:pPr>
              <a:r>
                <a:rPr lang="en-US" altLang="x-none" sz="1600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Coin collection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BB615FC-D8DF-4041-A480-A1369EB74FED}"/>
              </a:ext>
            </a:extLst>
          </p:cNvPr>
          <p:cNvSpPr txBox="1"/>
          <p:nvPr/>
        </p:nvSpPr>
        <p:spPr>
          <a:xfrm>
            <a:off x="2478227" y="4014514"/>
            <a:ext cx="3178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如果单元格</a:t>
            </a:r>
            <a:r>
              <a:rPr lang="en-US" altLang="zh-CN" dirty="0"/>
              <a:t>(</a:t>
            </a:r>
            <a:r>
              <a:rPr lang="en-US" altLang="zh-CN" dirty="0" err="1"/>
              <a:t>i,j</a:t>
            </a:r>
            <a:r>
              <a:rPr lang="en-US" altLang="zh-CN" dirty="0"/>
              <a:t>)</a:t>
            </a:r>
            <a:r>
              <a:rPr lang="zh-CN" altLang="en-US" dirty="0"/>
              <a:t>中有硬币存在，</a:t>
            </a:r>
            <a:r>
              <a:rPr lang="en-US" altLang="zh-CN" sz="18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en-US" altLang="zh-CN" sz="2400" b="0" i="0" dirty="0" err="1">
                <a:solidFill>
                  <a:srgbClr val="4D4D4D"/>
                </a:solidFill>
                <a:effectLst/>
                <a:latin typeface="-apple-system"/>
              </a:rPr>
              <a:t>C</a:t>
            </a:r>
            <a:r>
              <a:rPr lang="en-US" altLang="zh-CN" sz="2400" b="0" i="0" baseline="-25000" dirty="0" err="1">
                <a:solidFill>
                  <a:srgbClr val="4D4D4D"/>
                </a:solidFill>
                <a:effectLst/>
                <a:latin typeface="-apple-system"/>
              </a:rPr>
              <a:t>ij</a:t>
            </a:r>
            <a:r>
              <a:rPr lang="en-US" altLang="zh-CN" sz="2400" b="0" i="0" baseline="-2500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en-US" altLang="zh-CN" dirty="0"/>
              <a:t>=1</a:t>
            </a:r>
            <a:r>
              <a:rPr lang="zh-CN" altLang="en-US" dirty="0"/>
              <a:t>，否则为</a:t>
            </a:r>
            <a:r>
              <a:rPr lang="en-US" altLang="zh-CN" dirty="0"/>
              <a:t>0.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424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>
            <a:off x="-1270" y="4649638"/>
            <a:ext cx="3313813" cy="222296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8BBF990-FFF9-4723-AE28-1625108ED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583474"/>
              </p:ext>
            </p:extLst>
          </p:nvPr>
        </p:nvGraphicFramePr>
        <p:xfrm>
          <a:off x="2265135" y="729734"/>
          <a:ext cx="6404713" cy="2377440"/>
        </p:xfrm>
        <a:graphic>
          <a:graphicData uri="http://schemas.openxmlformats.org/drawingml/2006/table">
            <a:tbl>
              <a:tblPr/>
              <a:tblGrid>
                <a:gridCol w="914959">
                  <a:extLst>
                    <a:ext uri="{9D8B030D-6E8A-4147-A177-3AD203B41FA5}">
                      <a16:colId xmlns:a16="http://schemas.microsoft.com/office/drawing/2014/main" val="2939582158"/>
                    </a:ext>
                  </a:extLst>
                </a:gridCol>
                <a:gridCol w="914959">
                  <a:extLst>
                    <a:ext uri="{9D8B030D-6E8A-4147-A177-3AD203B41FA5}">
                      <a16:colId xmlns:a16="http://schemas.microsoft.com/office/drawing/2014/main" val="3097930996"/>
                    </a:ext>
                  </a:extLst>
                </a:gridCol>
                <a:gridCol w="914959">
                  <a:extLst>
                    <a:ext uri="{9D8B030D-6E8A-4147-A177-3AD203B41FA5}">
                      <a16:colId xmlns:a16="http://schemas.microsoft.com/office/drawing/2014/main" val="2720496629"/>
                    </a:ext>
                  </a:extLst>
                </a:gridCol>
                <a:gridCol w="914959">
                  <a:extLst>
                    <a:ext uri="{9D8B030D-6E8A-4147-A177-3AD203B41FA5}">
                      <a16:colId xmlns:a16="http://schemas.microsoft.com/office/drawing/2014/main" val="995463740"/>
                    </a:ext>
                  </a:extLst>
                </a:gridCol>
                <a:gridCol w="914959">
                  <a:extLst>
                    <a:ext uri="{9D8B030D-6E8A-4147-A177-3AD203B41FA5}">
                      <a16:colId xmlns:a16="http://schemas.microsoft.com/office/drawing/2014/main" val="2606595779"/>
                    </a:ext>
                  </a:extLst>
                </a:gridCol>
                <a:gridCol w="914959">
                  <a:extLst>
                    <a:ext uri="{9D8B030D-6E8A-4147-A177-3AD203B41FA5}">
                      <a16:colId xmlns:a16="http://schemas.microsoft.com/office/drawing/2014/main" val="636269394"/>
                    </a:ext>
                  </a:extLst>
                </a:gridCol>
                <a:gridCol w="914959">
                  <a:extLst>
                    <a:ext uri="{9D8B030D-6E8A-4147-A177-3AD203B41FA5}">
                      <a16:colId xmlns:a16="http://schemas.microsoft.com/office/drawing/2014/main" val="629352868"/>
                    </a:ext>
                  </a:extLst>
                </a:gridCol>
              </a:tblGrid>
              <a:tr h="321656">
                <a:tc>
                  <a:txBody>
                    <a:bodyPr/>
                    <a:lstStyle/>
                    <a:p>
                      <a:pPr fontAlgn="ctr" latinLnBrk="0"/>
                      <a:endParaRPr lang="zh-CN" altLang="en-US" b="1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 dirty="0">
                          <a:solidFill>
                            <a:srgbClr val="4F4F4F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>
                          <a:solidFill>
                            <a:srgbClr val="4F4F4F"/>
                          </a:solidFill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>
                          <a:solidFill>
                            <a:srgbClr val="4F4F4F"/>
                          </a:solidFill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>
                          <a:solidFill>
                            <a:srgbClr val="4F4F4F"/>
                          </a:solidFill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 dirty="0">
                          <a:solidFill>
                            <a:srgbClr val="4F4F4F"/>
                          </a:solidFill>
                          <a:effectLst/>
                        </a:rPr>
                        <a:t>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510270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82576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975936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06354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0060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191267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5864592-41F8-4CF1-B443-02AD2CBCF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202294"/>
              </p:ext>
            </p:extLst>
          </p:nvPr>
        </p:nvGraphicFramePr>
        <p:xfrm>
          <a:off x="2265135" y="3429000"/>
          <a:ext cx="8825164" cy="2651760"/>
        </p:xfrm>
        <a:graphic>
          <a:graphicData uri="http://schemas.openxmlformats.org/drawingml/2006/table">
            <a:tbl>
              <a:tblPr/>
              <a:tblGrid>
                <a:gridCol w="1190371">
                  <a:extLst>
                    <a:ext uri="{9D8B030D-6E8A-4147-A177-3AD203B41FA5}">
                      <a16:colId xmlns:a16="http://schemas.microsoft.com/office/drawing/2014/main" val="2019599130"/>
                    </a:ext>
                  </a:extLst>
                </a:gridCol>
                <a:gridCol w="1190371">
                  <a:extLst>
                    <a:ext uri="{9D8B030D-6E8A-4147-A177-3AD203B41FA5}">
                      <a16:colId xmlns:a16="http://schemas.microsoft.com/office/drawing/2014/main" val="3226539791"/>
                    </a:ext>
                  </a:extLst>
                </a:gridCol>
                <a:gridCol w="1190371">
                  <a:extLst>
                    <a:ext uri="{9D8B030D-6E8A-4147-A177-3AD203B41FA5}">
                      <a16:colId xmlns:a16="http://schemas.microsoft.com/office/drawing/2014/main" val="553882970"/>
                    </a:ext>
                  </a:extLst>
                </a:gridCol>
                <a:gridCol w="1190371">
                  <a:extLst>
                    <a:ext uri="{9D8B030D-6E8A-4147-A177-3AD203B41FA5}">
                      <a16:colId xmlns:a16="http://schemas.microsoft.com/office/drawing/2014/main" val="375906768"/>
                    </a:ext>
                  </a:extLst>
                </a:gridCol>
                <a:gridCol w="1190371">
                  <a:extLst>
                    <a:ext uri="{9D8B030D-6E8A-4147-A177-3AD203B41FA5}">
                      <a16:colId xmlns:a16="http://schemas.microsoft.com/office/drawing/2014/main" val="2776997280"/>
                    </a:ext>
                  </a:extLst>
                </a:gridCol>
                <a:gridCol w="1190371">
                  <a:extLst>
                    <a:ext uri="{9D8B030D-6E8A-4147-A177-3AD203B41FA5}">
                      <a16:colId xmlns:a16="http://schemas.microsoft.com/office/drawing/2014/main" val="1063824645"/>
                    </a:ext>
                  </a:extLst>
                </a:gridCol>
                <a:gridCol w="1682938">
                  <a:extLst>
                    <a:ext uri="{9D8B030D-6E8A-4147-A177-3AD203B41FA5}">
                      <a16:colId xmlns:a16="http://schemas.microsoft.com/office/drawing/2014/main" val="3338565152"/>
                    </a:ext>
                  </a:extLst>
                </a:gridCol>
              </a:tblGrid>
              <a:tr h="532022">
                <a:tc>
                  <a:txBody>
                    <a:bodyPr/>
                    <a:lstStyle/>
                    <a:p>
                      <a:pPr fontAlgn="ctr" latinLnBrk="0"/>
                      <a:br>
                        <a:rPr lang="zh-CN" altLang="en-US" b="1" dirty="0">
                          <a:solidFill>
                            <a:srgbClr val="4F4F4F"/>
                          </a:solidFill>
                          <a:effectLst/>
                        </a:rPr>
                      </a:br>
                      <a:r>
                        <a:rPr lang="en-US" altLang="zh-CN" b="1" dirty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>
                          <a:solidFill>
                            <a:srgbClr val="4F4F4F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>
                          <a:solidFill>
                            <a:srgbClr val="4F4F4F"/>
                          </a:solidFill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 dirty="0">
                          <a:solidFill>
                            <a:srgbClr val="4F4F4F"/>
                          </a:solidFill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>
                          <a:solidFill>
                            <a:srgbClr val="4F4F4F"/>
                          </a:solidFill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>
                          <a:solidFill>
                            <a:srgbClr val="4F4F4F"/>
                          </a:solidFill>
                          <a:effectLst/>
                        </a:rPr>
                        <a:t>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477855"/>
                  </a:ext>
                </a:extLst>
              </a:tr>
              <a:tr h="314377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41887"/>
                  </a:ext>
                </a:extLst>
              </a:tr>
              <a:tr h="314377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035117"/>
                  </a:ext>
                </a:extLst>
              </a:tr>
              <a:tr h="314377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zh-CN" altLang="en-US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955668"/>
                  </a:ext>
                </a:extLst>
              </a:tr>
              <a:tr h="314377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6063"/>
                  </a:ext>
                </a:extLst>
              </a:tr>
              <a:tr h="314377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13960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E265075-857B-4781-BE9A-CBE680C89625}"/>
              </a:ext>
            </a:extLst>
          </p:cNvPr>
          <p:cNvSpPr txBox="1"/>
          <p:nvPr/>
        </p:nvSpPr>
        <p:spPr>
          <a:xfrm>
            <a:off x="2039628" y="318254"/>
            <a:ext cx="4848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简化分布后（有硬币为 ‘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1’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，无硬币 ‘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0’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）：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EAED49-748A-4B0D-B25F-1EA9D448658B}"/>
              </a:ext>
            </a:extLst>
          </p:cNvPr>
          <p:cNvSpPr txBox="1"/>
          <p:nvPr/>
        </p:nvSpPr>
        <p:spPr>
          <a:xfrm>
            <a:off x="366712" y="3107174"/>
            <a:ext cx="2320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F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en-US" altLang="zh-CN" b="1" i="0" dirty="0" err="1">
                <a:solidFill>
                  <a:srgbClr val="4D4D4D"/>
                </a:solidFill>
                <a:effectLst/>
                <a:latin typeface="-apple-system"/>
              </a:rPr>
              <a:t>i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j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）的情况如下：</a:t>
            </a:r>
            <a:endParaRPr lang="zh-CN" altLang="en-US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9989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18900000">
            <a:off x="-1721485" y="-295910"/>
            <a:ext cx="4176395" cy="2363470"/>
          </a:xfrm>
          <a:prstGeom prst="rect">
            <a:avLst/>
          </a:prstGeom>
        </p:spPr>
      </p:pic>
      <p:pic>
        <p:nvPicPr>
          <p:cNvPr id="4" name="图片 3" descr="bd24218a68ba4b70c817e5e6e508ee7e"/>
          <p:cNvPicPr>
            <a:picLocks noChangeAspect="1"/>
          </p:cNvPicPr>
          <p:nvPr/>
        </p:nvPicPr>
        <p:blipFill>
          <a:blip r:embed="rId3">
            <a:lum bright="-100000" contrast="-6000"/>
          </a:blip>
          <a:srcRect t="59224" r="4501"/>
          <a:stretch>
            <a:fillRect/>
          </a:stretch>
        </p:blipFill>
        <p:spPr>
          <a:xfrm rot="2700000" flipH="1">
            <a:off x="9947910" y="102870"/>
            <a:ext cx="3699510" cy="2093595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43ED153A-8AF9-457E-983C-C59FB29F6D50}"/>
              </a:ext>
            </a:extLst>
          </p:cNvPr>
          <p:cNvGrpSpPr/>
          <p:nvPr/>
        </p:nvGrpSpPr>
        <p:grpSpPr>
          <a:xfrm>
            <a:off x="3906520" y="555625"/>
            <a:ext cx="4341495" cy="971550"/>
            <a:chOff x="6152" y="875"/>
            <a:chExt cx="6837" cy="1530"/>
          </a:xfrm>
        </p:grpSpPr>
        <p:sp>
          <p:nvSpPr>
            <p:cNvPr id="25" name="文本框 24">
              <a:hlinkClick r:id="rId4" action="ppaction://hlinkfile"/>
              <a:extLst>
                <a:ext uri="{FF2B5EF4-FFF2-40B4-BE49-F238E27FC236}">
                  <a16:creationId xmlns:a16="http://schemas.microsoft.com/office/drawing/2014/main" id="{1E217D2F-AC4B-4125-920B-50EA7A434023}"/>
                </a:ext>
              </a:extLst>
            </p:cNvPr>
            <p:cNvSpPr txBox="1"/>
            <p:nvPr/>
          </p:nvSpPr>
          <p:spPr>
            <a:xfrm>
              <a:off x="6921" y="981"/>
              <a:ext cx="5352" cy="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spc="100" dirty="0">
                  <a:solidFill>
                    <a:schemeClr val="tx1"/>
                  </a:solidFill>
                  <a:uFillTx/>
                  <a:latin typeface="方正细圆简体" panose="02010601030101010101" charset="-122"/>
                  <a:ea typeface="方正细圆简体" panose="02010601030101010101" charset="-122"/>
                </a:rPr>
                <a:t>硬币收集问题</a:t>
              </a:r>
              <a:endParaRPr lang="zh-CN" altLang="en-US" sz="1400" spc="400" dirty="0">
                <a:solidFill>
                  <a:schemeClr val="tx1"/>
                </a:solidFill>
                <a:uFillTx/>
                <a:latin typeface="方正细圆简体" panose="02010601030101010101" charset="-122"/>
                <a:ea typeface="方正细圆简体" panose="02010601030101010101" charset="-122"/>
              </a:endParaRPr>
            </a:p>
          </p:txBody>
        </p:sp>
        <p:sp>
          <p:nvSpPr>
            <p:cNvPr id="26" name="圆角矩形 1">
              <a:extLst>
                <a:ext uri="{FF2B5EF4-FFF2-40B4-BE49-F238E27FC236}">
                  <a16:creationId xmlns:a16="http://schemas.microsoft.com/office/drawing/2014/main" id="{522582E4-8869-4E8E-AD66-2D1026D9BE98}"/>
                </a:ext>
              </a:extLst>
            </p:cNvPr>
            <p:cNvSpPr/>
            <p:nvPr/>
          </p:nvSpPr>
          <p:spPr>
            <a:xfrm>
              <a:off x="6922" y="875"/>
              <a:ext cx="5298" cy="887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F981622-5D7A-4BD2-B3C6-4068481D58FF}"/>
                </a:ext>
              </a:extLst>
            </p:cNvPr>
            <p:cNvSpPr txBox="1"/>
            <p:nvPr/>
          </p:nvSpPr>
          <p:spPr>
            <a:xfrm>
              <a:off x="6152" y="1824"/>
              <a:ext cx="6837" cy="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ct val="120000"/>
                </a:lnSpc>
                <a:buFont typeface="Arial" panose="020B0604020202020204" pitchFamily="34" charset="0"/>
              </a:pPr>
              <a:r>
                <a:rPr lang="en-US" altLang="x-none" sz="1600" dirty="0">
                  <a:solidFill>
                    <a:sysClr val="window" lastClr="FFFFFF">
                      <a:lumMod val="50000"/>
                    </a:sysClr>
                  </a:solidFill>
                  <a:latin typeface="+mn-lt"/>
                  <a:ea typeface="宋体" panose="02010600030101010101" pitchFamily="2" charset="-122"/>
                  <a:cs typeface="+mn-ea"/>
                  <a:sym typeface="+mn-ea"/>
                </a:rPr>
                <a:t>Coin collection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359EEED-868B-44CC-AB17-74F213A067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492" y="1566545"/>
            <a:ext cx="6257206" cy="517393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7F19F61-E019-4EF2-A30E-B2EA397179F0}"/>
              </a:ext>
            </a:extLst>
          </p:cNvPr>
          <p:cNvSpPr txBox="1"/>
          <p:nvPr/>
        </p:nvSpPr>
        <p:spPr>
          <a:xfrm>
            <a:off x="2448656" y="1342707"/>
            <a:ext cx="1457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PingFang SC"/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路径图示例：</a:t>
            </a:r>
            <a:endParaRPr lang="zh-CN" altLang="en-US" b="1" i="0" dirty="0"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5431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1103</Words>
  <Application>Microsoft Office PowerPoint</Application>
  <PresentationFormat>宽屏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-apple-system</vt:lpstr>
      <vt:lpstr>PingFang SC</vt:lpstr>
      <vt:lpstr>等线</vt:lpstr>
      <vt:lpstr>等线 Light</vt:lpstr>
      <vt:lpstr>方正细圆简体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廖 洋</cp:lastModifiedBy>
  <cp:revision>42</cp:revision>
  <dcterms:created xsi:type="dcterms:W3CDTF">2017-07-11T11:26:19Z</dcterms:created>
  <dcterms:modified xsi:type="dcterms:W3CDTF">2020-12-10T13:07:15Z</dcterms:modified>
</cp:coreProperties>
</file>